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2.xml" ContentType="application/vnd.openxmlformats-officedocument.presentationml.slideLayou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/>
  <p:notesSz cx="9144000" cy="51435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(°C)</c:v>
                </c:pt>
              </c:strCache>
            </c:strRef>
          </c:tx>
          <c:spPr bwMode="auto">
            <a:prstGeom prst="rect">
              <a:avLst/>
            </a:prstGeom>
            <a:ln w="28575">
              <a:solidFill>
                <a:srgbClr val="1B2A5C"/>
              </a:solidFill>
            </a:ln>
          </c:spPr>
          <c:marker>
            <c:symbol val="none"/>
          </c:marker>
          <c:xVal>
            <c:numRef>
              <c:f>Sheet1!$A$2:$A$74</c:f>
              <c:numCache>
                <c:formatCode>General</c:formatCode>
                <c:ptCount val="7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</c:numCache>
            </c:numRef>
          </c:xVal>
          <c:yVal>
            <c:numRef>
              <c:f>Sheet1!$B$2:$B$74</c:f>
              <c:numCache>
                <c:formatCode>General</c:formatCode>
                <c:ptCount val="73"/>
                <c:pt idx="0">
                  <c:v>20.32</c:v>
                </c:pt>
                <c:pt idx="1">
                  <c:v>19.5</c:v>
                </c:pt>
                <c:pt idx="2">
                  <c:v>18.98</c:v>
                </c:pt>
                <c:pt idx="3">
                  <c:v>18.8</c:v>
                </c:pt>
                <c:pt idx="4">
                  <c:v>18.98</c:v>
                </c:pt>
                <c:pt idx="5">
                  <c:v>19.5</c:v>
                </c:pt>
                <c:pt idx="6">
                  <c:v>20.32</c:v>
                </c:pt>
                <c:pt idx="7">
                  <c:v>21.4</c:v>
                </c:pt>
                <c:pt idx="8">
                  <c:v>22.65</c:v>
                </c:pt>
                <c:pt idx="9">
                  <c:v>24</c:v>
                </c:pt>
                <c:pt idx="10">
                  <c:v>25.35</c:v>
                </c:pt>
                <c:pt idx="11">
                  <c:v>26.6</c:v>
                </c:pt>
                <c:pt idx="12">
                  <c:v>27.68</c:v>
                </c:pt>
                <c:pt idx="13">
                  <c:v>28.5</c:v>
                </c:pt>
                <c:pt idx="14">
                  <c:v>29.02</c:v>
                </c:pt>
                <c:pt idx="15">
                  <c:v>29.2</c:v>
                </c:pt>
                <c:pt idx="16">
                  <c:v>29.02</c:v>
                </c:pt>
                <c:pt idx="17">
                  <c:v>28.5</c:v>
                </c:pt>
                <c:pt idx="18">
                  <c:v>27.68</c:v>
                </c:pt>
                <c:pt idx="19">
                  <c:v>26.6</c:v>
                </c:pt>
                <c:pt idx="20">
                  <c:v>25.35</c:v>
                </c:pt>
                <c:pt idx="21">
                  <c:v>24</c:v>
                </c:pt>
                <c:pt idx="22">
                  <c:v>22.65</c:v>
                </c:pt>
                <c:pt idx="23">
                  <c:v>21.4</c:v>
                </c:pt>
                <c:pt idx="24">
                  <c:v>20.32</c:v>
                </c:pt>
                <c:pt idx="25">
                  <c:v>19.5</c:v>
                </c:pt>
                <c:pt idx="26">
                  <c:v>18.98</c:v>
                </c:pt>
                <c:pt idx="27">
                  <c:v>18.8</c:v>
                </c:pt>
                <c:pt idx="28">
                  <c:v>18.98</c:v>
                </c:pt>
                <c:pt idx="29">
                  <c:v>19.5</c:v>
                </c:pt>
                <c:pt idx="30">
                  <c:v>20.32</c:v>
                </c:pt>
                <c:pt idx="31">
                  <c:v>21.4</c:v>
                </c:pt>
                <c:pt idx="32">
                  <c:v>22.65</c:v>
                </c:pt>
                <c:pt idx="33">
                  <c:v>24</c:v>
                </c:pt>
                <c:pt idx="34">
                  <c:v>25.35</c:v>
                </c:pt>
                <c:pt idx="35">
                  <c:v>26.6</c:v>
                </c:pt>
                <c:pt idx="36">
                  <c:v>27.68</c:v>
                </c:pt>
                <c:pt idx="37">
                  <c:v>28.5</c:v>
                </c:pt>
                <c:pt idx="38">
                  <c:v>29.02</c:v>
                </c:pt>
                <c:pt idx="39">
                  <c:v>29.2</c:v>
                </c:pt>
                <c:pt idx="40">
                  <c:v>23.02</c:v>
                </c:pt>
                <c:pt idx="41">
                  <c:v>25.29</c:v>
                </c:pt>
                <c:pt idx="42">
                  <c:v>25.96</c:v>
                </c:pt>
                <c:pt idx="43">
                  <c:v>25.68</c:v>
                </c:pt>
                <c:pt idx="44">
                  <c:v>24.85</c:v>
                </c:pt>
                <c:pt idx="45">
                  <c:v>23.74</c:v>
                </c:pt>
                <c:pt idx="46">
                  <c:v>22.65</c:v>
                </c:pt>
                <c:pt idx="47">
                  <c:v>21.4</c:v>
                </c:pt>
                <c:pt idx="48">
                  <c:v>20.32</c:v>
                </c:pt>
                <c:pt idx="49">
                  <c:v>19.5</c:v>
                </c:pt>
                <c:pt idx="50">
                  <c:v>18.98</c:v>
                </c:pt>
                <c:pt idx="51">
                  <c:v>18.8</c:v>
                </c:pt>
                <c:pt idx="52">
                  <c:v>18.98</c:v>
                </c:pt>
                <c:pt idx="53">
                  <c:v>19.5</c:v>
                </c:pt>
                <c:pt idx="54">
                  <c:v>20.32</c:v>
                </c:pt>
                <c:pt idx="55">
                  <c:v>21.4</c:v>
                </c:pt>
                <c:pt idx="56">
                  <c:v>22.65</c:v>
                </c:pt>
                <c:pt idx="57">
                  <c:v>24</c:v>
                </c:pt>
                <c:pt idx="58">
                  <c:v>41.5</c:v>
                </c:pt>
                <c:pt idx="59">
                  <c:v>26.6</c:v>
                </c:pt>
                <c:pt idx="60">
                  <c:v>27.68</c:v>
                </c:pt>
                <c:pt idx="61">
                  <c:v>28.5</c:v>
                </c:pt>
                <c:pt idx="62">
                  <c:v>29.02</c:v>
                </c:pt>
                <c:pt idx="63">
                  <c:v>29.2</c:v>
                </c:pt>
                <c:pt idx="64">
                  <c:v>29.02</c:v>
                </c:pt>
                <c:pt idx="65">
                  <c:v>28.5</c:v>
                </c:pt>
                <c:pt idx="66">
                  <c:v>27.68</c:v>
                </c:pt>
                <c:pt idx="67">
                  <c:v>26.6</c:v>
                </c:pt>
                <c:pt idx="68">
                  <c:v>25.35</c:v>
                </c:pt>
                <c:pt idx="69">
                  <c:v>24</c:v>
                </c:pt>
                <c:pt idx="70">
                  <c:v>22.65</c:v>
                </c:pt>
                <c:pt idx="71">
                  <c:v>21.4</c:v>
                </c:pt>
                <c:pt idx="72">
                  <c:v>20.32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Sheet1!$B$76</c:f>
              <c:strCache>
                <c:ptCount val="1"/>
                <c:pt idx="0">
                  <c:v>Raw +3σ control limit</c:v>
                </c:pt>
              </c:strCache>
            </c:strRef>
          </c:tx>
          <c:spPr bwMode="auto">
            <a:prstGeom prst="rect">
              <a:avLst/>
            </a:prstGeom>
            <a:ln w="19050">
              <a:solidFill>
                <a:srgbClr val="E7A317"/>
              </a:solidFill>
              <a:prstDash val="dash"/>
            </a:ln>
          </c:spPr>
          <c:marker>
            <c:symbol val="none"/>
          </c:marker>
          <c:xVal>
            <c:numRef>
              <c:f>Sheet1!$A$77:$A$149</c:f>
              <c:numCache>
                <c:formatCode>General</c:formatCode>
                <c:ptCount val="7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</c:numCache>
            </c:numRef>
          </c:xVal>
          <c:yVal>
            <c:numRef>
              <c:f>Sheet1!$B$77:$B$149</c:f>
              <c:numCache>
                <c:formatCode>General</c:formatCode>
                <c:ptCount val="73"/>
                <c:pt idx="0">
                  <c:v>21.24</c:v>
                </c:pt>
                <c:pt idx="1">
                  <c:v>21.24</c:v>
                </c:pt>
                <c:pt idx="2">
                  <c:v>21.24</c:v>
                </c:pt>
                <c:pt idx="3">
                  <c:v>21.24</c:v>
                </c:pt>
                <c:pt idx="4">
                  <c:v>21.24</c:v>
                </c:pt>
                <c:pt idx="5">
                  <c:v>21.24</c:v>
                </c:pt>
                <c:pt idx="6">
                  <c:v>21.24</c:v>
                </c:pt>
                <c:pt idx="7">
                  <c:v>22.23</c:v>
                </c:pt>
                <c:pt idx="8">
                  <c:v>23.69</c:v>
                </c:pt>
                <c:pt idx="9">
                  <c:v>25.4</c:v>
                </c:pt>
                <c:pt idx="10">
                  <c:v>27.23</c:v>
                </c:pt>
                <c:pt idx="11">
                  <c:v>29.06</c:v>
                </c:pt>
                <c:pt idx="12">
                  <c:v>30.8</c:v>
                </c:pt>
                <c:pt idx="13">
                  <c:v>32.37</c:v>
                </c:pt>
                <c:pt idx="14">
                  <c:v>33.69</c:v>
                </c:pt>
                <c:pt idx="15">
                  <c:v>34.73</c:v>
                </c:pt>
                <c:pt idx="16">
                  <c:v>35.47</c:v>
                </c:pt>
                <c:pt idx="17">
                  <c:v>35.9</c:v>
                </c:pt>
                <c:pt idx="18">
                  <c:v>36.07</c:v>
                </c:pt>
                <c:pt idx="19">
                  <c:v>36.01</c:v>
                </c:pt>
                <c:pt idx="20">
                  <c:v>35.81</c:v>
                </c:pt>
                <c:pt idx="21">
                  <c:v>35.53</c:v>
                </c:pt>
                <c:pt idx="22">
                  <c:v>35.26</c:v>
                </c:pt>
                <c:pt idx="23">
                  <c:v>35.03</c:v>
                </c:pt>
                <c:pt idx="24">
                  <c:v>34.87</c:v>
                </c:pt>
                <c:pt idx="25">
                  <c:v>34.95</c:v>
                </c:pt>
                <c:pt idx="26">
                  <c:v>35</c:v>
                </c:pt>
                <c:pt idx="27">
                  <c:v>35.02</c:v>
                </c:pt>
                <c:pt idx="28">
                  <c:v>35</c:v>
                </c:pt>
                <c:pt idx="29">
                  <c:v>34.95</c:v>
                </c:pt>
                <c:pt idx="30">
                  <c:v>34.87</c:v>
                </c:pt>
                <c:pt idx="31">
                  <c:v>34.81</c:v>
                </c:pt>
                <c:pt idx="32">
                  <c:v>34.78</c:v>
                </c:pt>
                <c:pt idx="33">
                  <c:v>34.81</c:v>
                </c:pt>
                <c:pt idx="34">
                  <c:v>34.89</c:v>
                </c:pt>
                <c:pt idx="35">
                  <c:v>35.02</c:v>
                </c:pt>
                <c:pt idx="36">
                  <c:v>35.17</c:v>
                </c:pt>
                <c:pt idx="37">
                  <c:v>35.31</c:v>
                </c:pt>
                <c:pt idx="38">
                  <c:v>35.41</c:v>
                </c:pt>
                <c:pt idx="39">
                  <c:v>35.44</c:v>
                </c:pt>
                <c:pt idx="40">
                  <c:v>34.78</c:v>
                </c:pt>
                <c:pt idx="41">
                  <c:v>34.22</c:v>
                </c:pt>
                <c:pt idx="42">
                  <c:v>33.81</c:v>
                </c:pt>
                <c:pt idx="43">
                  <c:v>33.51</c:v>
                </c:pt>
                <c:pt idx="44">
                  <c:v>33.31</c:v>
                </c:pt>
                <c:pt idx="45">
                  <c:v>33.18</c:v>
                </c:pt>
                <c:pt idx="46">
                  <c:v>33.13</c:v>
                </c:pt>
                <c:pt idx="47">
                  <c:v>33.15</c:v>
                </c:pt>
                <c:pt idx="48">
                  <c:v>33.21</c:v>
                </c:pt>
                <c:pt idx="49">
                  <c:v>33.27</c:v>
                </c:pt>
                <c:pt idx="50">
                  <c:v>33.33</c:v>
                </c:pt>
                <c:pt idx="51">
                  <c:v>33.35</c:v>
                </c:pt>
                <c:pt idx="52">
                  <c:v>33.33</c:v>
                </c:pt>
                <c:pt idx="53">
                  <c:v>33.27</c:v>
                </c:pt>
                <c:pt idx="54">
                  <c:v>33.21</c:v>
                </c:pt>
                <c:pt idx="55">
                  <c:v>33.15</c:v>
                </c:pt>
                <c:pt idx="56">
                  <c:v>33.13</c:v>
                </c:pt>
                <c:pt idx="57">
                  <c:v>33.18</c:v>
                </c:pt>
                <c:pt idx="58">
                  <c:v>38.55</c:v>
                </c:pt>
                <c:pt idx="59">
                  <c:v>38.65</c:v>
                </c:pt>
                <c:pt idx="60">
                  <c:v>38.77</c:v>
                </c:pt>
                <c:pt idx="61">
                  <c:v>38.88</c:v>
                </c:pt>
                <c:pt idx="62">
                  <c:v>38.96</c:v>
                </c:pt>
                <c:pt idx="63">
                  <c:v>38.99</c:v>
                </c:pt>
                <c:pt idx="64">
                  <c:v>38.96</c:v>
                </c:pt>
                <c:pt idx="65">
                  <c:v>39.36</c:v>
                </c:pt>
                <c:pt idx="66">
                  <c:v>39.56</c:v>
                </c:pt>
                <c:pt idx="67">
                  <c:v>39.61</c:v>
                </c:pt>
                <c:pt idx="68">
                  <c:v>39.59</c:v>
                </c:pt>
                <c:pt idx="69">
                  <c:v>39.56</c:v>
                </c:pt>
                <c:pt idx="70">
                  <c:v>39.56</c:v>
                </c:pt>
                <c:pt idx="71">
                  <c:v>39.58</c:v>
                </c:pt>
                <c:pt idx="72">
                  <c:v>39.63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Sheet1!$B$151</c:f>
              <c:strCache>
                <c:ptCount val="1"/>
                <c:pt idx="0">
                  <c:v>Real cloudburst (T −6 °C)</c:v>
                </c:pt>
              </c:strCache>
            </c:strRef>
          </c:tx>
          <c:spPr bwMode="auto">
            <a:prstGeom prst="rect">
              <a:avLst/>
            </a:prstGeom>
            <a:ln>
              <a:noFill/>
            </a:ln>
          </c:spPr>
          <c:marker>
            <c:symbol val="circle"/>
            <c:size val="10"/>
            <c:spPr bwMode="auto">
              <a:prstGeom prst="rect">
                <a:avLst/>
              </a:prstGeom>
              <a:solidFill>
                <a:srgbClr val="2A7F9E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Sheet1!$A$152:$A$152</c:f>
              <c:numCache>
                <c:formatCode>General</c:formatCode>
                <c:ptCount val="1"/>
                <c:pt idx="0">
                  <c:v>40</c:v>
                </c:pt>
              </c:numCache>
            </c:numRef>
          </c:xVal>
          <c:yVal>
            <c:numRef>
              <c:f>Sheet1!$B$152:$B$152</c:f>
              <c:numCache>
                <c:formatCode>General</c:formatCode>
                <c:ptCount val="1"/>
                <c:pt idx="0">
                  <c:v>23.02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Sheet1!$B$154</c:f>
              <c:strCache>
                <c:ptCount val="1"/>
                <c:pt idx="0">
                  <c:v>ADC spike (+16 °C)</c:v>
                </c:pt>
              </c:strCache>
            </c:strRef>
          </c:tx>
          <c:spPr bwMode="auto">
            <a:prstGeom prst="rect">
              <a:avLst/>
            </a:prstGeom>
            <a:ln>
              <a:noFill/>
            </a:ln>
          </c:spPr>
          <c:marker>
            <c:symbol val="circle"/>
            <c:size val="10"/>
            <c:spPr bwMode="auto">
              <a:prstGeom prst="rect">
                <a:avLst/>
              </a:prstGeom>
              <a:solidFill>
                <a:srgbClr val="A82039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Sheet1!$A$155:$A$155</c:f>
              <c:numCache>
                <c:formatCode>General</c:formatCode>
                <c:ptCount val="1"/>
                <c:pt idx="0">
                  <c:v>58</c:v>
                </c:pt>
              </c:numCache>
            </c:numRef>
          </c:xVal>
          <c:yVal>
            <c:numRef>
              <c:f>Sheet1!$B$155:$B$155</c:f>
              <c:numCache>
                <c:formatCode>General</c:formatCode>
                <c:ptCount val="1"/>
                <c:pt idx="0">
                  <c:v>41.5</c:v>
                </c:pt>
              </c:numCache>
            </c:numRef>
          </c:yVal>
          <c:smooth val="0"/>
        </c:ser>
        <c:dLbls>
          <c:showBubbleSize val="0"/>
          <c:showCatName val="0"/>
          <c:showLegendKey val="0"/>
          <c:showPercent val="0"/>
          <c:showSerName val="0"/>
          <c:showVal val="0"/>
        </c:dLbls>
        <c:axId val="-2128940872"/>
        <c:axId val="-2129643912"/>
      </c:scatterChart>
      <c:valAx>
        <c:axId val="-2128940872"/>
        <c:scaling>
          <c:orientation val="minMax"/>
          <c:max val="72.000000"/>
          <c:min val="0.00000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900">
                    <a:solidFill>
                      <a:srgbClr val="5B6478"/>
                    </a:solidFill>
                  </a:rPr>
                  <a:t>hours (3 days, Bengaluru)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D4DCEA"/>
            </a:solidFill>
          </a:ln>
        </c:spPr>
        <c:txPr>
          <a:bodyPr/>
          <a:lstStyle/>
          <a:p>
            <a:pPr>
              <a:defRPr sz="900">
                <a:solidFill>
                  <a:srgbClr val="5B6478"/>
                </a:solidFill>
                <a:latin typeface="Calibri"/>
              </a:defRPr>
            </a:pPr>
            <a:endParaRPr/>
          </a:p>
        </c:txPr>
        <c:crossAx val="-2129643912"/>
        <c:crosses val="autoZero"/>
        <c:crossBetween val="midCat"/>
        <c:majorUnit val="24.000000"/>
      </c:valAx>
      <c:valAx>
        <c:axId val="-2129643912"/>
        <c:scaling>
          <c:orientation val="minMax"/>
          <c:max val="50.000000"/>
          <c:min val="10.000000"/>
        </c:scaling>
        <c:delete val="0"/>
        <c:axPos val="l"/>
        <c:majorGridlines>
          <c:spPr bwMode="auto">
            <a:prstGeom prst="rect">
              <a:avLst/>
            </a:prstGeom>
            <a:ln w="6350">
              <a:solidFill>
                <a:srgbClr val="E3E8F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900">
                    <a:solidFill>
                      <a:srgbClr val="5B6478"/>
                    </a:solidFill>
                  </a:rPr>
                  <a:t>°C</a:t>
                </a:r>
                <a:endParaRPr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D4DCEA"/>
            </a:solidFill>
          </a:ln>
        </c:spPr>
        <c:txPr>
          <a:bodyPr/>
          <a:lstStyle/>
          <a:p>
            <a:pPr>
              <a:defRPr sz="900">
                <a:solidFill>
                  <a:srgbClr val="5B6478"/>
                </a:solidFill>
                <a:latin typeface="Calibri"/>
              </a:defRPr>
            </a:pPr>
            <a:endParaRPr/>
          </a:p>
        </c:txPr>
        <c:crossAx val="-2128940872"/>
        <c:crosses val="autoZero"/>
        <c:crossBetween val="midCat"/>
        <c:majorUnit val="10.000000"/>
      </c:valAx>
    </c:plotArea>
    <c:legend>
      <c:legendPos val="t"/>
      <c:layout/>
      <c:overlay val="0"/>
      <c:txPr>
        <a:bodyPr/>
        <a:lstStyle/>
        <a:p>
          <a:pPr>
            <a:defRPr sz="950">
              <a:solidFill>
                <a:srgbClr val="5B6478"/>
              </a:solidFill>
              <a:latin typeface="Calibri"/>
            </a:defRPr>
          </a:pPr>
          <a:endParaRPr/>
        </a:p>
      </c:txPr>
    </c:legend>
    <c:plotVisOnly val="1"/>
    <c:dispBlanksAs val="gap"/>
    <c:showDLblsOverMax val="0"/>
  </c:chart>
  <c:spPr bwMode="auto">
    <a:xfrm rot="0">
      <a:off x="548640" y="1097280"/>
      <a:ext cx="5349240" cy="2395728"/>
    </a:xfrm>
  </c:spPr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Storm or stuck {θ₂,θ₃}</c:v>
                </c:pt>
              </c:strCache>
            </c:strRef>
          </c:tx>
          <c:spPr bwMode="auto">
            <a:prstGeom prst="rect">
              <a:avLst/>
            </a:prstGeom>
            <a:solidFill>
              <a:srgbClr val="2A7F9E"/>
            </a:solidFill>
          </c:spPr>
          <c:cat>
            <c:strRef>
              <c:f>Sheet1!$A$2:$A$4</c:f>
              <c:strCache>
                <c:ptCount val="3"/>
                <c:pt idx="0">
                  <c:v>m₃ · AWS T, H</c:v>
                </c:pt>
                <c:pt idx="1">
                  <c:v>m₂ · GPM IMERG</c:v>
                </c:pt>
                <c:pt idx="2">
                  <c:v>m₁ · INSAT-3DR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0.9</c:v>
                </c:pt>
                <c:pt idx="2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Gauge stuck {θ₃}</c:v>
                </c:pt>
              </c:strCache>
            </c:strRef>
          </c:tx>
          <c:spPr bwMode="auto">
            <a:prstGeom prst="rect">
              <a:avLst/>
            </a:prstGeom>
            <a:solidFill>
              <a:srgbClr val="A82039"/>
            </a:solidFill>
          </c:spPr>
          <c:cat>
            <c:strRef>
              <c:f>Sheet1!$A$2:$A$4</c:f>
              <c:strCache>
                <c:ptCount val="3"/>
                <c:pt idx="0">
                  <c:v>m₃ · AWS T, H</c:v>
                </c:pt>
                <c:pt idx="1">
                  <c:v>m₂ · GPM IMERG</c:v>
                </c:pt>
                <c:pt idx="2">
                  <c:v>m₁ · INSAT-3DR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Normal dry {θ₁}</c:v>
                </c:pt>
              </c:strCache>
            </c:strRef>
          </c:tx>
          <c:spPr bwMode="auto">
            <a:prstGeom prst="rect">
              <a:avLst/>
            </a:prstGeom>
            <a:solidFill>
              <a:srgbClr val="A9B3C6"/>
            </a:solidFill>
          </c:spPr>
          <c:dLbls>
            <c:showBubbleSize val="0"/>
            <c:showCatName val="0"/>
            <c:showLeaderLines val="1"/>
            <c:showLegendKey val="0"/>
            <c:showPercent val="0"/>
            <c:showSerName val="0"/>
            <c:showVal val="0"/>
          </c:dLbls>
          <c:cat>
            <c:strRef>
              <c:f>Sheet1!$A$2:$A$4</c:f>
              <c:strCache>
                <c:ptCount val="3"/>
                <c:pt idx="0">
                  <c:v>m₃ · AWS T, H</c:v>
                </c:pt>
                <c:pt idx="1">
                  <c:v>m₂ · GPM IMERG</c:v>
                </c:pt>
                <c:pt idx="2">
                  <c:v>m₁ · INSAT-3DR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0.04</c:v>
                </c:pt>
                <c:pt idx="1">
                  <c:v>0.01</c:v>
                </c:pt>
                <c:pt idx="2">
                  <c:v>0.02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Uncertain Θ</c:v>
                </c:pt>
              </c:strCache>
            </c:strRef>
          </c:tx>
          <c:spPr bwMode="auto">
            <a:prstGeom prst="rect">
              <a:avLst/>
            </a:prstGeom>
            <a:solidFill>
              <a:srgbClr val="D4DCEA"/>
            </a:solidFill>
          </c:spPr>
          <c:dLbls>
            <c:showBubbleSize val="0"/>
            <c:showCatName val="0"/>
            <c:showLeaderLines val="1"/>
            <c:showLegendKey val="0"/>
            <c:showPercent val="0"/>
            <c:showSerName val="0"/>
            <c:showVal val="0"/>
          </c:dLbls>
          <c:cat>
            <c:strRef>
              <c:f>Sheet1!$A$2:$A$4</c:f>
              <c:strCache>
                <c:ptCount val="3"/>
                <c:pt idx="0">
                  <c:v>m₃ · AWS T, H</c:v>
                </c:pt>
                <c:pt idx="1">
                  <c:v>m₂ · GPM IMERG</c:v>
                </c:pt>
                <c:pt idx="2">
                  <c:v>m₁ · INSAT-3DR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0.08</c:v>
                </c:pt>
                <c:pt idx="1">
                  <c:v>0.09</c:v>
                </c:pt>
                <c:pt idx="2">
                  <c:v>0.13</c:v>
                </c:pt>
              </c:numCache>
            </c:numRef>
          </c:val>
        </c:ser>
        <c:dLbls>
          <c:dLblPos val="ctr"/>
          <c:numFmt formatCode="0.00;;;" sourceLinked="0"/>
          <c:showBubbleSize val="0"/>
          <c:showCatName val="0"/>
          <c:showLeaderLines val="1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  <a:latin typeface="Calibri"/>
                </a:defRPr>
              </a:pPr>
              <a:endParaRPr/>
            </a:p>
          </c:txPr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950">
                <a:solidFill>
                  <a:srgbClr val="1A1F36"/>
                </a:solidFill>
                <a:latin typeface="Calibri"/>
              </a:defRPr>
            </a:pPr>
            <a:endParaRPr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00000"/>
          <c:min val="0.000000"/>
        </c:scaling>
        <c:delete val="0"/>
        <c:axPos val="b"/>
        <c:majorTickMark val="out"/>
        <c:minorTickMark val="none"/>
        <c:tickLblPos val="none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5B6478"/>
                </a:solidFill>
                <a:latin typeface="Calibri"/>
              </a:defRPr>
            </a:pPr>
            <a:endParaRPr/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850">
              <a:solidFill>
                <a:srgbClr val="5B6478"/>
              </a:solidFill>
              <a:latin typeface="Calibri"/>
            </a:defRPr>
          </a:pPr>
          <a:endParaRPr/>
        </a:p>
      </c:txPr>
    </c:legend>
    <c:dispBlanksAs val="gap"/>
    <c:showDLblsOverMax val="0"/>
  </c:chart>
  <c:spPr bwMode="auto">
    <a:xfrm rot="0">
      <a:off x="4526280" y="1609344"/>
      <a:ext cx="4224779" cy="1371600"/>
    </a:xfrm>
  </c:spPr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0"/>
  <mc:AlternateContent>
    <mc:Choice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3σ baseline</c:v>
                </c:pt>
              </c:strCache>
            </c:strRef>
          </c:tx>
          <c:spPr bwMode="auto">
            <a:prstGeom prst="rect">
              <a:avLst/>
            </a:prstGeom>
            <a:solidFill>
              <a:srgbClr val="A9B3C6"/>
            </a:solidFill>
          </c:spPr>
          <c:cat>
            <c:strRef>
              <c:f>Sheet1!$A$2:$A$5</c:f>
              <c:strCache>
                <c:ptCount val="4"/>
                <c:pt idx="0">
                  <c:v>F₁ at 15% missing</c:v>
                </c:pt>
                <c:pt idx="1">
                  <c:v>F₁-score</c:v>
                </c:pt>
                <c:pt idx="2">
                  <c:v>Recall</c:v>
                </c:pt>
                <c:pt idx="3">
                  <c:v>Precision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0.538</c:v>
                </c:pt>
                <c:pt idx="2">
                  <c:v>0.431</c:v>
                </c:pt>
                <c:pt idx="3">
                  <c:v>0.714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</c:v>
                </c:pt>
              </c:strCache>
            </c:strRef>
          </c:tx>
          <c:spPr bwMode="auto">
            <a:prstGeom prst="rect">
              <a:avLst/>
            </a:prstGeom>
            <a:solidFill>
              <a:srgbClr val="1B2A5C"/>
            </a:solidFill>
          </c:spPr>
          <c:cat>
            <c:strRef>
              <c:f>Sheet1!$A$2:$A$5</c:f>
              <c:strCache>
                <c:ptCount val="4"/>
                <c:pt idx="0">
                  <c:v>F₁ at 15% missing</c:v>
                </c:pt>
                <c:pt idx="1">
                  <c:v>F₁-score</c:v>
                </c:pt>
                <c:pt idx="2">
                  <c:v>Recall</c:v>
                </c:pt>
                <c:pt idx="3">
                  <c:v>Precision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0.902</c:v>
                </c:pt>
                <c:pt idx="1">
                  <c:v>0.939</c:v>
                </c:pt>
                <c:pt idx="2">
                  <c:v>0.931</c:v>
                </c:pt>
                <c:pt idx="3">
                  <c:v>0.948</c:v>
                </c:pt>
              </c:numCache>
            </c:numRef>
          </c:val>
        </c:ser>
        <c:dLbls>
          <c:dLblPos val="outEnd"/>
          <c:numFmt formatCode="0.000" sourceLinked="0"/>
          <c:showBubbleSize val="0"/>
          <c:showCatName val="0"/>
          <c:showLeaderLines val="1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900">
                  <a:solidFill>
                    <a:srgbClr val="1A1F36"/>
                  </a:solidFill>
                  <a:latin typeface="Calibri"/>
                </a:defRPr>
              </a:pPr>
              <a:endParaRPr/>
            </a:p>
          </c:txPr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 bwMode="auto">
          <a:prstGeom prst="rect">
            <a:avLst/>
          </a:prstGeom>
          <a:ln>
            <a:solidFill>
              <a:srgbClr val="D4DCEA"/>
            </a:solidFill>
          </a:ln>
        </c:spPr>
        <c:txPr>
          <a:bodyPr/>
          <a:lstStyle/>
          <a:p>
            <a:pPr>
              <a:defRPr sz="1000">
                <a:solidFill>
                  <a:srgbClr val="1A1F36"/>
                </a:solidFill>
                <a:latin typeface="Calibri"/>
              </a:defRPr>
            </a:pPr>
            <a:endParaRPr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20000"/>
          <c:min val="0.000000"/>
        </c:scaling>
        <c:delete val="0"/>
        <c:axPos val="b"/>
        <c:majorTickMark val="out"/>
        <c:minorTickMark val="none"/>
        <c:tickLblPos val="none"/>
        <c:spPr bwMode="auto">
          <a:prstGeom prst="rect">
            <a:avLst/>
          </a:prstGeom>
          <a:ln>
            <a:noFill/>
          </a:ln>
        </c:spPr>
        <c:txPr>
          <a:bodyPr/>
          <a:lstStyle/>
          <a:p>
            <a:pPr>
              <a:defRPr sz="800">
                <a:solidFill>
                  <a:srgbClr val="5B6478"/>
                </a:solidFill>
                <a:latin typeface="Calibri"/>
              </a:defRPr>
            </a:pPr>
            <a:endParaRPr/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950">
              <a:solidFill>
                <a:srgbClr val="5B6478"/>
              </a:solidFill>
              <a:latin typeface="Calibri"/>
            </a:defRPr>
          </a:pPr>
          <a:endParaRPr/>
        </a:p>
      </c:txPr>
    </c:legend>
    <c:dispBlanksAs val="gap"/>
    <c:showDLblsOverMax val="0"/>
  </c:chart>
  <c:spPr bwMode="auto">
    <a:xfrm rot="0">
      <a:off x="502920" y="1078992"/>
      <a:ext cx="5010912" cy="1773936"/>
    </a:xfrm>
  </c:spPr>
  <c:txPr>
    <a:bodyPr/>
    <a:lstStyle/>
    <a:p>
      <a:pPr>
        <a:defRPr sz="1800"/>
      </a:pPr>
      <a:endParaRPr lang="en-US"/>
    </a:p>
  </c:txPr>
  <c:externalData r:id="rId1"/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embeddings/_rels/Microsoft_Excel_Worksheet3.xlsx.rels><?xml version="1.0" encoding="UTF-8" standalone="yes"?><Relationships xmlns="http://schemas.openxmlformats.org/package/2006/relationships"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2038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50634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518160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57B0AF29-C90B-3928-E005-7B05A205BF8B}" type="datetimeFigureOut">
              <a:rPr lang="en-US"/>
              <a:t/>
            </a:fld>
            <a:endParaRPr/>
          </a:p>
        </p:txBody>
      </p:sp>
      <p:sp>
        <p:nvSpPr>
          <p:cNvPr id="45437502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9892667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18160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997DB949-2678-2FA5-730F-3BC5E0F36329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4191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67423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518160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9F966452-CC58-7A68-A479-19E629BB903A}" type="datetimeFigureOut">
              <a:rPr lang="en-US"/>
              <a:t/>
            </a:fld>
            <a:endParaRPr/>
          </a:p>
        </p:txBody>
      </p:sp>
      <p:sp>
        <p:nvSpPr>
          <p:cNvPr id="7510461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399" y="2668190"/>
            <a:ext cx="7315200" cy="2025253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61600799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3512928" name="Slide Image Placeholder 3"/>
          <p:cNvSpPr>
            <a:spLocks noGrp="1"/>
          </p:cNvSpPr>
          <p:nvPr>
            <p:ph type="sldImg" sz="quarter" idx="2"/>
          </p:nvPr>
        </p:nvSpPr>
        <p:spPr bwMode="auto">
          <a:xfrm>
            <a:off x="3028950" y="642937"/>
            <a:ext cx="3086100" cy="1735931"/>
          </a:xfrm>
          <a:prstGeom prst="rect">
            <a:avLst/>
          </a:prstGeom>
          <a:ln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>
              <a:defRPr/>
            </a:pPr>
            <a:endParaRPr/>
          </a:p>
        </p:txBody>
      </p:sp>
      <p:sp>
        <p:nvSpPr>
          <p:cNvPr id="223036451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18160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D2BD3F62-2F47-00AF-B91E-11B1C05AFF5A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92735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2457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05932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4D719AC-6AEF-8C26-3894-A09274769F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42880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99404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932310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84A782D-A87E-CDCA-0E1C-6B83E66B84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91060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8541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49595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E589891-1D42-0567-3D8D-60C4F1AD1A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86413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11713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615194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18BDA17-58FF-EFDF-4397-FA457A27E8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0843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699280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988719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83DD7F9-877F-E669-99C1-D705D176A2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31634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72289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6437090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098EC39-197F-5020-AA7F-C03FEE214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83263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50889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72417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C64B41E-DC94-ECB9-5092-C9E389C426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53711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81895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290169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ADFBBF4-9BDB-B83D-D479-198E91AC2E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43146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77155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370150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FA702FE-1BE3-4CC6-0FEC-E874D3D168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478425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750243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96390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9A68CBB-29F7-9B7E-37CB-61F47402A9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79306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40256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67849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E1457F5-D551-C6FC-BCF1-33CB387925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27419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8756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20583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CDED6FB-035A-4C70-6CEC-FD34A3FC00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44315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28848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37111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B3EBAF0-3ECE-9932-19EC-CD623D8B5C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520025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1825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179281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8D6F868-5370-2C37-8D5F-9622491D95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264975" name="Holder 2"/>
          <p:cNvSpPr>
            <a:spLocks noGrp="1"/>
          </p:cNvSpPr>
          <p:nvPr>
            <p:ph type="ctrTitle"/>
          </p:nvPr>
        </p:nvSpPr>
        <p:spPr bwMode="auto"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9953186" name="Holder 3"/>
          <p:cNvSpPr>
            <a:spLocks noGrp="1"/>
          </p:cNvSpPr>
          <p:nvPr>
            <p:ph type="subTitle" idx="4"/>
          </p:nvPr>
        </p:nvSpPr>
        <p:spPr bwMode="auto"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9512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87943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3694519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823501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1740463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61134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78953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49096163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880724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2066552" name="Holder 3"/>
          <p:cNvSpPr>
            <a:spLocks noGrp="1"/>
          </p:cNvSpPr>
          <p:nvPr>
            <p:ph sz="half" idx="2"/>
          </p:nvPr>
        </p:nvSpPr>
        <p:spPr bwMode="auto"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1940488" name="Holder 4"/>
          <p:cNvSpPr>
            <a:spLocks noGrp="1"/>
          </p:cNvSpPr>
          <p:nvPr>
            <p:ph sz="half" idx="3"/>
          </p:nvPr>
        </p:nvSpPr>
        <p:spPr bwMode="auto"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4138716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5569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85392645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39724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152084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819782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81513731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10487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871073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62939391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#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1238373" name="bg object 16"/>
          <p:cNvPicPr/>
          <p:nvPr/>
        </p:nvPicPr>
        <p:blipFill rotWithShape="1">
          <a:blip r:embed="rId7"/>
          <a:stretch/>
        </p:blipFill>
        <p:spPr bwMode="auto">
          <a:xfrm>
            <a:off x="486809" y="4579402"/>
            <a:ext cx="1761743" cy="303493"/>
          </a:xfrm>
          <a:prstGeom prst="rect">
            <a:avLst/>
          </a:prstGeom>
        </p:spPr>
      </p:pic>
      <p:pic>
        <p:nvPicPr>
          <p:cNvPr id="9259558" name="bg object 17"/>
          <p:cNvPicPr/>
          <p:nvPr/>
        </p:nvPicPr>
        <p:blipFill rotWithShape="1">
          <a:blip r:embed="rId8"/>
          <a:stretch/>
        </p:blipFill>
        <p:spPr bwMode="auto">
          <a:xfrm>
            <a:off x="2514600" y="4541199"/>
            <a:ext cx="732421" cy="421105"/>
          </a:xfrm>
          <a:prstGeom prst="rect">
            <a:avLst/>
          </a:prstGeom>
        </p:spPr>
      </p:pic>
      <p:pic>
        <p:nvPicPr>
          <p:cNvPr id="828431090" name="bg object 18"/>
          <p:cNvPicPr/>
          <p:nvPr/>
        </p:nvPicPr>
        <p:blipFill rotWithShape="1">
          <a:blip r:embed="rId9"/>
          <a:stretch/>
        </p:blipFill>
        <p:spPr bwMode="auto">
          <a:xfrm>
            <a:off x="3520440" y="4590288"/>
            <a:ext cx="668896" cy="310895"/>
          </a:xfrm>
          <a:prstGeom prst="rect">
            <a:avLst/>
          </a:prstGeom>
        </p:spPr>
      </p:pic>
      <p:sp>
        <p:nvSpPr>
          <p:cNvPr id="1486551517" name="Holder 2"/>
          <p:cNvSpPr>
            <a:spLocks noGrp="1"/>
          </p:cNvSpPr>
          <p:nvPr>
            <p:ph type="title"/>
          </p:nvPr>
        </p:nvSpPr>
        <p:spPr bwMode="auto">
          <a:xfrm>
            <a:off x="444500" y="351028"/>
            <a:ext cx="5302885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1B2A5C"/>
                </a:solidFill>
                <a:latin typeface="Cambria"/>
                <a:cs typeface="Cambri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2603969" name="Holder 3"/>
          <p:cNvSpPr>
            <a:spLocks noGrp="1"/>
          </p:cNvSpPr>
          <p:nvPr>
            <p:ph type="body" idx="1"/>
          </p:nvPr>
        </p:nvSpPr>
        <p:spPr bwMode="auto">
          <a:xfrm>
            <a:off x="4254817" y="1412557"/>
            <a:ext cx="4474845" cy="281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664309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64879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7766004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8473232" y="4697222"/>
            <a:ext cx="2552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B6478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#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hyperlink" Target="http://ngirishBTECH25@stu.alliance.edu.in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chart" Target="../charts/chart2.xml" 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237273" name="object 2"/>
          <p:cNvSpPr/>
          <p:nvPr/>
        </p:nvSpPr>
        <p:spPr bwMode="auto"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fill="norm" stroke="1" extrusionOk="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B2A5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389772738" name="object 3"/>
          <p:cNvPicPr/>
          <p:nvPr/>
        </p:nvPicPr>
        <p:blipFill rotWithShape="1">
          <a:blip r:embed="rId3"/>
          <a:stretch/>
        </p:blipFill>
        <p:spPr bwMode="auto">
          <a:xfrm>
            <a:off x="640080" y="502920"/>
            <a:ext cx="2666999" cy="457199"/>
          </a:xfrm>
          <a:prstGeom prst="rect">
            <a:avLst/>
          </a:prstGeom>
        </p:spPr>
      </p:pic>
      <p:pic>
        <p:nvPicPr>
          <p:cNvPr id="1456130436" name="object 4"/>
          <p:cNvPicPr/>
          <p:nvPr/>
        </p:nvPicPr>
        <p:blipFill rotWithShape="1">
          <a:blip r:embed="rId4"/>
          <a:stretch/>
        </p:blipFill>
        <p:spPr bwMode="auto">
          <a:xfrm>
            <a:off x="4050792" y="429768"/>
            <a:ext cx="1048190" cy="603503"/>
          </a:xfrm>
          <a:prstGeom prst="rect">
            <a:avLst/>
          </a:prstGeom>
        </p:spPr>
      </p:pic>
      <p:pic>
        <p:nvPicPr>
          <p:cNvPr id="7450600" name="object 5"/>
          <p:cNvPicPr/>
          <p:nvPr/>
        </p:nvPicPr>
        <p:blipFill rotWithShape="1">
          <a:blip r:embed="rId5"/>
          <a:stretch/>
        </p:blipFill>
        <p:spPr bwMode="auto">
          <a:xfrm>
            <a:off x="7525511" y="502920"/>
            <a:ext cx="983672" cy="457199"/>
          </a:xfrm>
          <a:prstGeom prst="rect">
            <a:avLst/>
          </a:prstGeom>
        </p:spPr>
      </p:pic>
      <p:sp>
        <p:nvSpPr>
          <p:cNvPr id="1682131909" name="object 6" descr="$PPTXTitle"/>
          <p:cNvSpPr txBox="1">
            <a:spLocks noGrp="1"/>
          </p:cNvSpPr>
          <p:nvPr>
            <p:ph type="title"/>
          </p:nvPr>
        </p:nvSpPr>
        <p:spPr bwMode="auto">
          <a:xfrm>
            <a:off x="444500" y="1388364"/>
            <a:ext cx="288671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3200" spc="-10">
                <a:solidFill>
                  <a:srgbClr val="FFFFFF"/>
                </a:solidFill>
              </a:rPr>
              <a:t>Alliance</a:t>
            </a:r>
            <a:r>
              <a:rPr sz="3200" spc="-90">
                <a:solidFill>
                  <a:srgbClr val="FFFFFF"/>
                </a:solidFill>
              </a:rPr>
              <a:t> </a:t>
            </a:r>
            <a:r>
              <a:rPr sz="3200">
                <a:solidFill>
                  <a:srgbClr val="FFFFFF"/>
                </a:solidFill>
              </a:rPr>
              <a:t>One</a:t>
            </a:r>
            <a:r>
              <a:rPr sz="3200" spc="-85">
                <a:solidFill>
                  <a:srgbClr val="FFFFFF"/>
                </a:solidFill>
              </a:rPr>
              <a:t> </a:t>
            </a:r>
            <a:r>
              <a:rPr sz="3200" spc="-50">
                <a:solidFill>
                  <a:srgbClr val="FFFFFF"/>
                </a:solidFill>
              </a:rPr>
              <a:t>– </a:t>
            </a:r>
            <a:r>
              <a:rPr sz="3200">
                <a:solidFill>
                  <a:srgbClr val="FFFFFF"/>
                </a:solidFill>
              </a:rPr>
              <a:t>MathX</a:t>
            </a:r>
            <a:r>
              <a:rPr sz="3200" spc="-120">
                <a:solidFill>
                  <a:srgbClr val="FFFFFF"/>
                </a:solidFill>
              </a:rPr>
              <a:t> </a:t>
            </a:r>
            <a:r>
              <a:rPr sz="3200" spc="-10">
                <a:solidFill>
                  <a:srgbClr val="FFFFFF"/>
                </a:solidFill>
              </a:rPr>
              <a:t>Ideation</a:t>
            </a:r>
            <a:endParaRPr sz="3200"/>
          </a:p>
        </p:txBody>
      </p:sp>
      <p:sp>
        <p:nvSpPr>
          <p:cNvPr id="177571050" name="object 7"/>
          <p:cNvSpPr txBox="1"/>
          <p:nvPr/>
        </p:nvSpPr>
        <p:spPr bwMode="auto">
          <a:xfrm>
            <a:off x="444500" y="2870708"/>
            <a:ext cx="3323590" cy="12344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  <a:defRPr/>
            </a:pPr>
            <a:r>
              <a:rPr sz="1400" b="1">
                <a:solidFill>
                  <a:srgbClr val="EEF1F9"/>
                </a:solidFill>
                <a:latin typeface="Calibri"/>
                <a:cs typeface="Calibri"/>
              </a:rPr>
              <a:t>The </a:t>
            </a:r>
            <a:r>
              <a:rPr sz="1400" b="1" spc="-10">
                <a:solidFill>
                  <a:srgbClr val="EEF1F9"/>
                </a:solidFill>
                <a:latin typeface="Calibri"/>
                <a:cs typeface="Calibri"/>
              </a:rPr>
              <a:t>Mathematics</a:t>
            </a:r>
            <a:r>
              <a:rPr sz="1400" b="1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EEF1F9"/>
                </a:solidFill>
                <a:latin typeface="Calibri"/>
                <a:cs typeface="Calibri"/>
              </a:rPr>
              <a:t>Ideathon</a:t>
            </a:r>
            <a:endParaRPr sz="1400">
              <a:latin typeface="Calibri"/>
              <a:cs typeface="Calibri"/>
            </a:endParaRPr>
          </a:p>
          <a:p>
            <a:pPr marL="12700" marR="17780">
              <a:lnSpc>
                <a:spcPct val="116700"/>
              </a:lnSpc>
              <a:defRPr/>
            </a:pP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Demo</a:t>
            </a:r>
            <a:r>
              <a:rPr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EEF1F9"/>
                </a:solidFill>
                <a:latin typeface="Calibri"/>
                <a:cs typeface="Calibri"/>
              </a:rPr>
              <a:t>presentation</a:t>
            </a:r>
            <a:r>
              <a:rPr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·</a:t>
            </a:r>
            <a:r>
              <a:rPr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30</a:t>
            </a:r>
            <a:r>
              <a:rPr sz="1400" spc="-3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October</a:t>
            </a:r>
            <a:r>
              <a:rPr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2026,</a:t>
            </a:r>
            <a:r>
              <a:rPr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10</a:t>
            </a:r>
            <a:r>
              <a:rPr sz="1400" spc="-4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EEF1F9"/>
                </a:solidFill>
                <a:latin typeface="Calibri"/>
                <a:cs typeface="Calibri"/>
              </a:rPr>
              <a:t>AM </a:t>
            </a:r>
            <a:r>
              <a:rPr sz="1400" spc="-20">
                <a:solidFill>
                  <a:srgbClr val="EEF1F9"/>
                </a:solidFill>
                <a:latin typeface="Calibri"/>
                <a:cs typeface="Calibri"/>
              </a:rPr>
              <a:t>Venue:</a:t>
            </a:r>
            <a:r>
              <a:rPr sz="1400" spc="-2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 spc="-45">
                <a:solidFill>
                  <a:srgbClr val="EEF1F9"/>
                </a:solidFill>
                <a:latin typeface="Calibri"/>
                <a:cs typeface="Calibri"/>
              </a:rPr>
              <a:t>LT</a:t>
            </a:r>
            <a:r>
              <a:rPr sz="1400" spc="-2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702,</a:t>
            </a:r>
            <a:r>
              <a:rPr sz="1400" spc="-20">
                <a:solidFill>
                  <a:srgbClr val="EEF1F9"/>
                </a:solidFill>
                <a:latin typeface="Calibri"/>
                <a:cs typeface="Calibri"/>
              </a:rPr>
              <a:t> LC-</a:t>
            </a:r>
            <a:r>
              <a:rPr sz="1400" spc="-50">
                <a:solidFill>
                  <a:srgbClr val="EEF1F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80"/>
              </a:spcBef>
              <a:defRPr/>
            </a:pP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Infinity</a:t>
            </a:r>
            <a:r>
              <a:rPr sz="1400" spc="-50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Club,</a:t>
            </a:r>
            <a:r>
              <a:rPr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EEF1F9"/>
                </a:solidFill>
                <a:latin typeface="Calibri"/>
                <a:cs typeface="Calibri"/>
              </a:rPr>
              <a:t>Department</a:t>
            </a:r>
            <a:r>
              <a:rPr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of</a:t>
            </a:r>
            <a:r>
              <a:rPr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Pure</a:t>
            </a:r>
            <a:r>
              <a:rPr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EEF1F9"/>
                </a:solidFill>
                <a:latin typeface="Calibri"/>
                <a:cs typeface="Calibri"/>
              </a:rPr>
              <a:t>and</a:t>
            </a:r>
            <a:r>
              <a:rPr sz="1400" spc="-45">
                <a:solidFill>
                  <a:srgbClr val="EEF1F9"/>
                </a:solidFill>
                <a:latin typeface="Calibri"/>
                <a:cs typeface="Calibri"/>
              </a:rPr>
              <a:t> </a:t>
            </a:r>
            <a:r>
              <a:rPr sz="1400" spc="-10">
                <a:solidFill>
                  <a:srgbClr val="EEF1F9"/>
                </a:solidFill>
                <a:latin typeface="Calibri"/>
                <a:cs typeface="Calibri"/>
              </a:rPr>
              <a:t>Applied Mathematics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1705055367" name="object 8"/>
          <p:cNvGraphicFramePr>
            <a:graphicFrameLocks xmlns:a="http://schemas.openxmlformats.org/drawingml/2006/main" noGrp="1"/>
          </p:cNvGraphicFramePr>
          <p:nvPr/>
        </p:nvGraphicFramePr>
        <p:xfrm rot="0">
          <a:off x="4292917" y="1412557"/>
          <a:ext cx="4474845" cy="281368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1828800"/>
                <a:gridCol w="2560320"/>
              </a:tblGrid>
              <a:tr h="401955"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750"/>
                        </a:spcBef>
                        <a:defRPr/>
                      </a:pPr>
                      <a:r>
                        <a:rPr sz="13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Field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A8203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750"/>
                        </a:spcBef>
                        <a:defRPr/>
                      </a:pPr>
                      <a:r>
                        <a:rPr sz="1300" b="1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Details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A82039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Problem</a:t>
                      </a:r>
                      <a:r>
                        <a:rPr sz="1200" b="1" spc="-2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Statement</a:t>
                      </a:r>
                      <a:r>
                        <a:rPr sz="1200" b="1" spc="-2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5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b="1" i="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SIH26073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104775" marR="327660">
                        <a:lnSpc>
                          <a:spcPct val="100000"/>
                        </a:lnSpc>
                        <a:spcBef>
                          <a:spcPts val="95"/>
                        </a:spcBef>
                        <a:defRPr/>
                      </a:pPr>
                      <a:r>
                        <a:rPr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Problem</a:t>
                      </a:r>
                      <a:r>
                        <a:rPr sz="1200" b="1" spc="-35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Statement </a:t>
                      </a:r>
                      <a:r>
                        <a:rPr sz="1200" b="1" spc="-2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000" i="0">
                          <a:solidFill>
                            <a:srgbClr val="1A1F36"/>
                          </a:solidFill>
                          <a:latin typeface="Arial"/>
                          <a:cs typeface="Arial"/>
                        </a:rPr>
                        <a:t>AI/ML-Based Intelligent Anomaly Detection for Automatic Weather Stations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b="1" spc="-1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sz="1200" b="1" spc="-75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Leader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i="1" spc="-20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Girish 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b="1" spc="-1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sz="1200" b="1" spc="-75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Members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i="1" spc="-10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Vinit 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School</a:t>
                      </a:r>
                      <a:r>
                        <a:rPr sz="1200" b="1" spc="-75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ASAC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b="1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Contact</a:t>
                      </a:r>
                      <a:r>
                        <a:rPr sz="1200" b="1" spc="-5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>
                          <a:solidFill>
                            <a:srgbClr val="1B2A5C"/>
                          </a:solidFill>
                          <a:latin typeface="Arial"/>
                          <a:cs typeface="Arial"/>
                        </a:rPr>
                        <a:t>Details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 marL="104775">
                        <a:lnSpc>
                          <a:spcPct val="100000"/>
                        </a:lnSpc>
                        <a:spcBef>
                          <a:spcPts val="815"/>
                        </a:spcBef>
                        <a:defRPr/>
                      </a:pPr>
                      <a:r>
                        <a:rPr sz="1200" i="1" u="sng">
                          <a:solidFill>
                            <a:srgbClr val="5B6478"/>
                          </a:solidFill>
                          <a:latin typeface="Arial"/>
                          <a:cs typeface="Arial"/>
                          <a:hlinkClick r:id="rId6" tooltip=""/>
                        </a:rPr>
                        <a:t>ngirishBTECH25@stu.alliance.edu.in</a:t>
                      </a:r>
                      <a:r>
                        <a:rPr sz="1200" i="1">
                          <a:solidFill>
                            <a:srgbClr val="5B6478"/>
                          </a:solidFill>
                          <a:latin typeface="Arial"/>
                          <a:cs typeface="Arial"/>
                        </a:rPr>
                        <a:t>   , 9743737568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lnL w="9525" algn="ctr">
                      <a:solidFill>
                        <a:srgbClr val="D4DCEA"/>
                      </a:solidFill>
                    </a:lnL>
                    <a:lnR w="9525" algn="ctr">
                      <a:solidFill>
                        <a:srgbClr val="D4DCEA"/>
                      </a:solidFill>
                    </a:lnR>
                    <a:lnT w="9525" algn="ctr">
                      <a:solidFill>
                        <a:srgbClr val="D4DCEA"/>
                      </a:solidFill>
                    </a:lnT>
                    <a:lnB w="9525" algn="ctr">
                      <a:solidFill>
                        <a:srgbClr val="D4DC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516977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Problem</a:t>
            </a:r>
            <a:r>
              <a:rPr spc="-155"/>
              <a:t> </a:t>
            </a:r>
            <a:r>
              <a:rPr spc="-10"/>
              <a:t>Definition</a:t>
            </a:r>
            <a:endParaRPr/>
          </a:p>
        </p:txBody>
      </p:sp>
      <p:grpSp>
        <p:nvGrpSpPr>
          <p:cNvPr id="347238926" name="object 3"/>
          <p:cNvGrpSpPr/>
          <p:nvPr/>
        </p:nvGrpSpPr>
        <p:grpSpPr bwMode="auto">
          <a:xfrm>
            <a:off x="450850" y="1136650"/>
            <a:ext cx="4036060" cy="1475740"/>
            <a:chOff x="450850" y="1136650"/>
            <a:chExt cx="4036060" cy="147574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 fill="norm" stroke="1" extrusionOk="0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 fill="norm" stroke="1" extrusionOk="0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685800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 fill="norm" stroke="1" extrusionOk="0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685800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 fill="norm" stroke="1" extrusionOk="0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8" name="object 8"/>
            <p:cNvPicPr/>
            <p:nvPr/>
          </p:nvPicPr>
          <p:blipFill rotWithShape="1">
            <a:blip r:embed="rId3"/>
            <a:stretch/>
          </p:blipFill>
          <p:spPr bwMode="auto">
            <a:xfrm>
              <a:off x="833933" y="1519733"/>
              <a:ext cx="252373" cy="252373"/>
            </a:xfrm>
            <a:prstGeom prst="rect">
              <a:avLst/>
            </a:prstGeom>
          </p:spPr>
        </p:pic>
      </p:grpSp>
      <p:sp>
        <p:nvSpPr>
          <p:cNvPr id="87559383" name="object 9"/>
          <p:cNvSpPr txBox="1"/>
          <p:nvPr/>
        </p:nvSpPr>
        <p:spPr bwMode="auto">
          <a:xfrm>
            <a:off x="1404620" y="1225658"/>
            <a:ext cx="2944368" cy="8985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The Challenge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  <a:defRPr/>
            </a:pPr>
            <a:r>
              <a:rPr sz="1250">
                <a:solidFill>
                  <a:srgbClr val="1A1F36"/>
                </a:solidFill>
                <a:latin typeface="Calibri"/>
                <a:cs typeface="Calibri"/>
              </a:rPr>
              <a:t>Rain gauges jam, sensors drift and glitch outdoors. Weather is non-stationary, so static 3σ rules miss subtle faults or delete real cloudbursts.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98247834" name="object 10"/>
          <p:cNvGrpSpPr/>
          <p:nvPr/>
        </p:nvGrpSpPr>
        <p:grpSpPr bwMode="auto">
          <a:xfrm>
            <a:off x="4657090" y="1136650"/>
            <a:ext cx="4036060" cy="1475740"/>
            <a:chOff x="4657090" y="1136650"/>
            <a:chExt cx="4036060" cy="1475740"/>
          </a:xfrm>
        </p:grpSpPr>
        <p:sp>
          <p:nvSpPr>
            <p:cNvPr id="11" name="object 11"/>
            <p:cNvSpPr/>
            <p:nvPr/>
          </p:nvSpPr>
          <p:spPr bwMode="auto">
            <a:xfrm>
              <a:off x="466344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 fill="norm" stroke="1" extrusionOk="0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4663440" y="114300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 fill="norm" stroke="1" extrusionOk="0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2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4892039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 fill="norm" stroke="1" extrusionOk="0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4892039" y="13716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 fill="norm" stroke="1" extrusionOk="0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5" name="object 15"/>
            <p:cNvPicPr/>
            <p:nvPr/>
          </p:nvPicPr>
          <p:blipFill rotWithShape="1">
            <a:blip r:embed="rId4"/>
            <a:stretch/>
          </p:blipFill>
          <p:spPr bwMode="auto">
            <a:xfrm>
              <a:off x="5040173" y="1519733"/>
              <a:ext cx="252373" cy="252373"/>
            </a:xfrm>
            <a:prstGeom prst="rect">
              <a:avLst/>
            </a:prstGeom>
          </p:spPr>
        </p:pic>
      </p:grpSp>
      <p:sp>
        <p:nvSpPr>
          <p:cNvPr id="1058210569" name="object 16"/>
          <p:cNvSpPr txBox="1"/>
          <p:nvPr/>
        </p:nvSpPr>
        <p:spPr bwMode="auto">
          <a:xfrm>
            <a:off x="5610860" y="1225658"/>
            <a:ext cx="2926080" cy="8985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Intended Users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  <a:defRPr/>
            </a:pPr>
            <a:r>
              <a:rPr sz="1250">
                <a:solidFill>
                  <a:srgbClr val="1A1F36"/>
                </a:solidFill>
                <a:latin typeface="Calibri"/>
                <a:cs typeface="Calibri"/>
              </a:rPr>
              <a:t>KSNDMC and IMD network operators, BBMP flood and underpass alert teams, and engineers curating clean climate records.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85587973" name="object 17"/>
          <p:cNvGrpSpPr/>
          <p:nvPr/>
        </p:nvGrpSpPr>
        <p:grpSpPr bwMode="auto">
          <a:xfrm>
            <a:off x="450850" y="2782569"/>
            <a:ext cx="4036060" cy="1475740"/>
            <a:chOff x="450850" y="2782569"/>
            <a:chExt cx="4036060" cy="1475740"/>
          </a:xfrm>
        </p:grpSpPr>
        <p:sp>
          <p:nvSpPr>
            <p:cNvPr id="18" name="object 18"/>
            <p:cNvSpPr/>
            <p:nvPr/>
          </p:nvSpPr>
          <p:spPr bwMode="auto">
            <a:xfrm>
              <a:off x="45720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 fill="norm" stroke="1" extrusionOk="0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" name="object 19"/>
            <p:cNvSpPr/>
            <p:nvPr/>
          </p:nvSpPr>
          <p:spPr bwMode="auto">
            <a:xfrm>
              <a:off x="45720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60" h="1463039" fill="norm" stroke="1" extrusionOk="0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0" name="object 20"/>
            <p:cNvSpPr/>
            <p:nvPr/>
          </p:nvSpPr>
          <p:spPr bwMode="auto">
            <a:xfrm>
              <a:off x="685800" y="301751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 fill="norm" stroke="1" extrusionOk="0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 bwMode="auto">
            <a:xfrm>
              <a:off x="685800" y="301751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 fill="norm" stroke="1" extrusionOk="0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1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2" name="object 22"/>
            <p:cNvPicPr/>
            <p:nvPr/>
          </p:nvPicPr>
          <p:blipFill rotWithShape="1">
            <a:blip r:embed="rId5"/>
            <a:stretch/>
          </p:blipFill>
          <p:spPr bwMode="auto">
            <a:xfrm>
              <a:off x="833933" y="3165653"/>
              <a:ext cx="252373" cy="252373"/>
            </a:xfrm>
            <a:prstGeom prst="rect">
              <a:avLst/>
            </a:prstGeom>
          </p:spPr>
        </p:pic>
      </p:grpSp>
      <p:sp>
        <p:nvSpPr>
          <p:cNvPr id="577215444" name="object 23"/>
          <p:cNvSpPr txBox="1"/>
          <p:nvPr/>
        </p:nvSpPr>
        <p:spPr bwMode="auto">
          <a:xfrm>
            <a:off x="1404620" y="2871578"/>
            <a:ext cx="2944368" cy="8985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Operational Context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  <a:defRPr/>
            </a:pPr>
            <a:r>
              <a:rPr sz="1250">
                <a:solidFill>
                  <a:srgbClr val="1A1F36"/>
                </a:solidFill>
                <a:latin typeface="Calibri"/>
                <a:cs typeface="Calibri"/>
              </a:rPr>
              <a:t>Bengaluru, z ≈ 920 m: 6,505 rain gauges and 935 weather stations report T, H, P, R, W every 15 min. Storms form in under an hour.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64538366" name="object 24"/>
          <p:cNvGrpSpPr/>
          <p:nvPr/>
        </p:nvGrpSpPr>
        <p:grpSpPr bwMode="auto">
          <a:xfrm>
            <a:off x="4657090" y="2782569"/>
            <a:ext cx="4036060" cy="1475740"/>
            <a:chOff x="4657090" y="2782569"/>
            <a:chExt cx="4036060" cy="1475740"/>
          </a:xfrm>
        </p:grpSpPr>
        <p:sp>
          <p:nvSpPr>
            <p:cNvPr id="25" name="object 25"/>
            <p:cNvSpPr/>
            <p:nvPr/>
          </p:nvSpPr>
          <p:spPr bwMode="auto">
            <a:xfrm>
              <a:off x="466344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 fill="norm" stroke="1" extrusionOk="0">
                  <a:moveTo>
                    <a:pt x="3931919" y="1463039"/>
                  </a:move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6" name="object 26"/>
            <p:cNvSpPr/>
            <p:nvPr/>
          </p:nvSpPr>
          <p:spPr bwMode="auto">
            <a:xfrm>
              <a:off x="4663440" y="2788920"/>
              <a:ext cx="4023360" cy="1463040"/>
            </a:xfrm>
            <a:custGeom>
              <a:avLst/>
              <a:gdLst/>
              <a:ahLst/>
              <a:cxnLst/>
              <a:rect l="l" t="t" r="r" b="b"/>
              <a:pathLst>
                <a:path w="4023359" h="1463039" fill="norm" stroke="1" extrusionOk="0">
                  <a:moveTo>
                    <a:pt x="0" y="91439"/>
                  </a:moveTo>
                  <a:lnTo>
                    <a:pt x="7185" y="55847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39" y="0"/>
                  </a:lnTo>
                  <a:lnTo>
                    <a:pt x="3931919" y="0"/>
                  </a:lnTo>
                  <a:lnTo>
                    <a:pt x="3982651" y="15363"/>
                  </a:lnTo>
                  <a:lnTo>
                    <a:pt x="4016399" y="56447"/>
                  </a:lnTo>
                  <a:lnTo>
                    <a:pt x="4023359" y="91439"/>
                  </a:lnTo>
                  <a:lnTo>
                    <a:pt x="4023359" y="1371599"/>
                  </a:lnTo>
                  <a:lnTo>
                    <a:pt x="4016174" y="1407192"/>
                  </a:lnTo>
                  <a:lnTo>
                    <a:pt x="3996577" y="1436257"/>
                  </a:lnTo>
                  <a:lnTo>
                    <a:pt x="3967512" y="1455854"/>
                  </a:lnTo>
                  <a:lnTo>
                    <a:pt x="3931919" y="1463039"/>
                  </a:lnTo>
                  <a:lnTo>
                    <a:pt x="91439" y="1463039"/>
                  </a:lnTo>
                  <a:lnTo>
                    <a:pt x="55847" y="1455854"/>
                  </a:lnTo>
                  <a:lnTo>
                    <a:pt x="26782" y="1436257"/>
                  </a:lnTo>
                  <a:lnTo>
                    <a:pt x="7185" y="1407192"/>
                  </a:lnTo>
                  <a:lnTo>
                    <a:pt x="0" y="1371599"/>
                  </a:lnTo>
                  <a:lnTo>
                    <a:pt x="0" y="91439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7" name="object 27"/>
            <p:cNvSpPr/>
            <p:nvPr/>
          </p:nvSpPr>
          <p:spPr bwMode="auto">
            <a:xfrm>
              <a:off x="4892039" y="301751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 fill="norm" stroke="1" extrusionOk="0">
                  <a:moveTo>
                    <a:pt x="274319" y="548639"/>
                  </a:move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8" name="object 28"/>
            <p:cNvSpPr/>
            <p:nvPr/>
          </p:nvSpPr>
          <p:spPr bwMode="auto">
            <a:xfrm>
              <a:off x="4892039" y="301751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 fill="norm" stroke="1" extrusionOk="0">
                  <a:moveTo>
                    <a:pt x="0" y="274319"/>
                  </a:moveTo>
                  <a:lnTo>
                    <a:pt x="4419" y="225010"/>
                  </a:lnTo>
                  <a:lnTo>
                    <a:pt x="17162" y="178600"/>
                  </a:lnTo>
                  <a:lnTo>
                    <a:pt x="37452" y="135865"/>
                  </a:lnTo>
                  <a:lnTo>
                    <a:pt x="64516" y="97579"/>
                  </a:lnTo>
                  <a:lnTo>
                    <a:pt x="97579" y="64516"/>
                  </a:lnTo>
                  <a:lnTo>
                    <a:pt x="135865" y="37452"/>
                  </a:lnTo>
                  <a:lnTo>
                    <a:pt x="178600" y="17162"/>
                  </a:lnTo>
                  <a:lnTo>
                    <a:pt x="225010" y="4419"/>
                  </a:lnTo>
                  <a:lnTo>
                    <a:pt x="274319" y="0"/>
                  </a:lnTo>
                  <a:lnTo>
                    <a:pt x="328087" y="5319"/>
                  </a:lnTo>
                  <a:lnTo>
                    <a:pt x="379297" y="20881"/>
                  </a:lnTo>
                  <a:lnTo>
                    <a:pt x="426512" y="46088"/>
                  </a:lnTo>
                  <a:lnTo>
                    <a:pt x="468293" y="80346"/>
                  </a:lnTo>
                  <a:lnTo>
                    <a:pt x="502550" y="122127"/>
                  </a:lnTo>
                  <a:lnTo>
                    <a:pt x="527758" y="169342"/>
                  </a:lnTo>
                  <a:lnTo>
                    <a:pt x="543320" y="220552"/>
                  </a:lnTo>
                  <a:lnTo>
                    <a:pt x="548639" y="274319"/>
                  </a:lnTo>
                  <a:lnTo>
                    <a:pt x="544220" y="323629"/>
                  </a:lnTo>
                  <a:lnTo>
                    <a:pt x="531477" y="370039"/>
                  </a:lnTo>
                  <a:lnTo>
                    <a:pt x="511187" y="412774"/>
                  </a:lnTo>
                  <a:lnTo>
                    <a:pt x="484123" y="451060"/>
                  </a:lnTo>
                  <a:lnTo>
                    <a:pt x="451060" y="484123"/>
                  </a:lnTo>
                  <a:lnTo>
                    <a:pt x="412774" y="511187"/>
                  </a:lnTo>
                  <a:lnTo>
                    <a:pt x="370039" y="531477"/>
                  </a:lnTo>
                  <a:lnTo>
                    <a:pt x="323629" y="544220"/>
                  </a:lnTo>
                  <a:lnTo>
                    <a:pt x="274319" y="548639"/>
                  </a:lnTo>
                  <a:lnTo>
                    <a:pt x="225010" y="544220"/>
                  </a:lnTo>
                  <a:lnTo>
                    <a:pt x="178600" y="531477"/>
                  </a:lnTo>
                  <a:lnTo>
                    <a:pt x="135865" y="511187"/>
                  </a:lnTo>
                  <a:lnTo>
                    <a:pt x="97579" y="484123"/>
                  </a:lnTo>
                  <a:lnTo>
                    <a:pt x="64516" y="451060"/>
                  </a:lnTo>
                  <a:lnTo>
                    <a:pt x="37452" y="412774"/>
                  </a:lnTo>
                  <a:lnTo>
                    <a:pt x="17162" y="370039"/>
                  </a:lnTo>
                  <a:lnTo>
                    <a:pt x="4419" y="323629"/>
                  </a:lnTo>
                  <a:lnTo>
                    <a:pt x="0" y="274319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9" name="object 29"/>
            <p:cNvPicPr/>
            <p:nvPr/>
          </p:nvPicPr>
          <p:blipFill rotWithShape="1">
            <a:blip r:embed="rId6"/>
            <a:stretch/>
          </p:blipFill>
          <p:spPr bwMode="auto">
            <a:xfrm>
              <a:off x="5040173" y="3165653"/>
              <a:ext cx="252373" cy="252373"/>
            </a:xfrm>
            <a:prstGeom prst="rect">
              <a:avLst/>
            </a:prstGeom>
          </p:spPr>
        </p:pic>
      </p:grpSp>
      <p:sp>
        <p:nvSpPr>
          <p:cNvPr id="1761145925" name="object 30"/>
          <p:cNvSpPr txBox="1"/>
          <p:nvPr/>
        </p:nvSpPr>
        <p:spPr bwMode="auto">
          <a:xfrm>
            <a:off x="5610860" y="2871578"/>
            <a:ext cx="2926080" cy="8985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Specific Problem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  <a:defRPr/>
            </a:pPr>
            <a:r>
              <a:rPr sz="1250">
                <a:solidFill>
                  <a:srgbClr val="1A1F36"/>
                </a:solidFill>
                <a:latin typeface="Calibri"/>
                <a:cs typeface="Calibri"/>
              </a:rPr>
              <a:t>For each reading, decide: sensor fault or genuine (even extreme) weather. Flag 4 fault types with a reason code at FPR ≤ 1%.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54486259" name="object 3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047764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ext cx="822960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Why Static Rules Fail</a:t>
            </a:r>
            <a:endParaRPr/>
          </a:p>
        </p:txBody>
      </p:sp>
      <p:sp>
        <p:nvSpPr>
          <p:cNvPr id="794081376" name="object 31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sp>
        <p:nvSpPr>
          <p:cNvPr id="1588302657" name="Chart card"/>
          <p:cNvSpPr/>
          <p:nvPr/>
        </p:nvSpPr>
        <p:spPr bwMode="auto">
          <a:xfrm>
            <a:off x="448056" y="1051560"/>
            <a:ext cx="553212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graphicFrame>
        <p:nvGraphicFramePr>
          <p:cNvPr id="502911442" name="Paradox chart"/>
          <p:cNvGraphicFramePr>
            <a:graphicFrameLocks xmlns:a="http://schemas.openxmlformats.org/drawingml/2006/main" noGrp="1"/>
          </p:cNvGraphicFramePr>
          <p:nvPr/>
        </p:nvGraphicFramePr>
        <p:xfrm rot="0">
          <a:off x="548640" y="1097280"/>
          <a:ext cx="534924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20157541" name="Stat 1"/>
          <p:cNvSpPr/>
          <p:nvPr/>
        </p:nvSpPr>
        <p:spPr bwMode="auto">
          <a:xfrm>
            <a:off x="448056" y="3657600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02330854" name="Stat value 1"/>
          <p:cNvSpPr txBox="1"/>
          <p:nvPr/>
        </p:nvSpPr>
        <p:spPr bwMode="auto">
          <a:xfrm>
            <a:off x="585216" y="371246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1B2A5C"/>
                </a:solidFill>
                <a:latin typeface="Cambria"/>
              </a:rPr>
              <a:t>6,505</a:t>
            </a:r>
            <a:endParaRPr/>
          </a:p>
        </p:txBody>
      </p:sp>
      <p:sp>
        <p:nvSpPr>
          <p:cNvPr id="957601784" name="Stat label 1"/>
          <p:cNvSpPr txBox="1"/>
          <p:nvPr/>
        </p:nvSpPr>
        <p:spPr bwMode="auto">
          <a:xfrm>
            <a:off x="585216" y="407822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rain gauges (KSNDMC)</a:t>
            </a:r>
            <a:endParaRPr/>
          </a:p>
        </p:txBody>
      </p:sp>
      <p:sp>
        <p:nvSpPr>
          <p:cNvPr id="106369848" name="Stat 2"/>
          <p:cNvSpPr/>
          <p:nvPr/>
        </p:nvSpPr>
        <p:spPr bwMode="auto">
          <a:xfrm>
            <a:off x="2331720" y="3657600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63763195" name="Stat value 2"/>
          <p:cNvSpPr txBox="1"/>
          <p:nvPr/>
        </p:nvSpPr>
        <p:spPr bwMode="auto">
          <a:xfrm>
            <a:off x="2468879" y="371246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1B2A5C"/>
                </a:solidFill>
                <a:latin typeface="Cambria"/>
              </a:rPr>
              <a:t>935</a:t>
            </a:r>
            <a:endParaRPr/>
          </a:p>
        </p:txBody>
      </p:sp>
      <p:sp>
        <p:nvSpPr>
          <p:cNvPr id="688583288" name="Stat label 2"/>
          <p:cNvSpPr txBox="1"/>
          <p:nvPr/>
        </p:nvSpPr>
        <p:spPr bwMode="auto">
          <a:xfrm>
            <a:off x="2468879" y="407822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weather stations</a:t>
            </a:r>
            <a:endParaRPr/>
          </a:p>
        </p:txBody>
      </p:sp>
      <p:sp>
        <p:nvSpPr>
          <p:cNvPr id="1131377268" name="Stat 3"/>
          <p:cNvSpPr/>
          <p:nvPr/>
        </p:nvSpPr>
        <p:spPr bwMode="auto">
          <a:xfrm>
            <a:off x="4215384" y="3657600"/>
            <a:ext cx="1764792" cy="73152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62812370" name="Stat value 3"/>
          <p:cNvSpPr txBox="1"/>
          <p:nvPr/>
        </p:nvSpPr>
        <p:spPr bwMode="auto">
          <a:xfrm>
            <a:off x="4352544" y="371246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200" b="1" i="0">
                <a:solidFill>
                  <a:srgbClr val="A82039"/>
                </a:solidFill>
                <a:latin typeface="Cambria"/>
              </a:rPr>
              <a:t>1,530</a:t>
            </a:r>
            <a:endParaRPr/>
          </a:p>
        </p:txBody>
      </p:sp>
      <p:sp>
        <p:nvSpPr>
          <p:cNvPr id="74892960" name="Stat label 3"/>
          <p:cNvSpPr txBox="1"/>
          <p:nvPr/>
        </p:nvSpPr>
        <p:spPr bwMode="auto">
          <a:xfrm>
            <a:off x="4352544" y="407822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defunct gauges in audit</a:t>
            </a:r>
            <a:endParaRPr/>
          </a:p>
        </p:txBody>
      </p:sp>
      <p:sp>
        <p:nvSpPr>
          <p:cNvPr id="1114488666" name="Callout 1"/>
          <p:cNvSpPr/>
          <p:nvPr/>
        </p:nvSpPr>
        <p:spPr bwMode="auto">
          <a:xfrm>
            <a:off x="6126480" y="1051560"/>
            <a:ext cx="2560320" cy="1033271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885909992" name="Badge !"/>
          <p:cNvSpPr/>
          <p:nvPr/>
        </p:nvSpPr>
        <p:spPr bwMode="auto">
          <a:xfrm>
            <a:off x="6263640" y="1179576"/>
            <a:ext cx="237744" cy="237744"/>
          </a:xfrm>
          <a:prstGeom prst="ellipse">
            <a:avLst/>
          </a:prstGeom>
          <a:solidFill>
            <a:srgbClr val="A82039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  <a:endParaRPr/>
          </a:p>
        </p:txBody>
      </p:sp>
      <p:sp>
        <p:nvSpPr>
          <p:cNvPr id="834427536" name="Callout title 1"/>
          <p:cNvSpPr txBox="1"/>
          <p:nvPr/>
        </p:nvSpPr>
        <p:spPr bwMode="auto">
          <a:xfrm>
            <a:off x="6583680" y="11612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B2A5C"/>
                </a:solidFill>
                <a:latin typeface="Calibri"/>
              </a:rPr>
              <a:t>ADC spike: one sample</a:t>
            </a:r>
            <a:endParaRPr/>
          </a:p>
        </p:txBody>
      </p:sp>
      <p:sp>
        <p:nvSpPr>
          <p:cNvPr id="1758359387" name="Callout text 1"/>
          <p:cNvSpPr txBox="1"/>
          <p:nvPr/>
        </p:nvSpPr>
        <p:spPr bwMode="auto">
          <a:xfrm>
            <a:off x="6263640" y="1463039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F36"/>
                </a:solidFill>
                <a:latin typeface="Calibri"/>
              </a:rPr>
              <a:t>Mean and σ have a 0% breakdown point. One spike inflates σ, the ±3σ band balloons and hides every fault for the next 24 h.</a:t>
            </a:r>
            <a:endParaRPr/>
          </a:p>
        </p:txBody>
      </p:sp>
      <p:sp>
        <p:nvSpPr>
          <p:cNvPr id="1315910270" name="Callout 2"/>
          <p:cNvSpPr/>
          <p:nvPr/>
        </p:nvSpPr>
        <p:spPr bwMode="auto">
          <a:xfrm>
            <a:off x="6126480" y="2176272"/>
            <a:ext cx="2560320" cy="1033271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69574652" name="Badge !"/>
          <p:cNvSpPr/>
          <p:nvPr/>
        </p:nvSpPr>
        <p:spPr bwMode="auto">
          <a:xfrm>
            <a:off x="6263640" y="2304288"/>
            <a:ext cx="237744" cy="237744"/>
          </a:xfrm>
          <a:prstGeom prst="ellipse">
            <a:avLst/>
          </a:prstGeom>
          <a:solidFill>
            <a:srgbClr val="2A7F9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  <a:endParaRPr/>
          </a:p>
        </p:txBody>
      </p:sp>
      <p:sp>
        <p:nvSpPr>
          <p:cNvPr id="2042001670" name="Callout title 2"/>
          <p:cNvSpPr txBox="1"/>
          <p:nvPr/>
        </p:nvSpPr>
        <p:spPr bwMode="auto">
          <a:xfrm>
            <a:off x="6583680" y="2286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B2A5C"/>
                </a:solidFill>
                <a:latin typeface="Calibri"/>
              </a:rPr>
              <a:t>Real cloudburst</a:t>
            </a:r>
            <a:endParaRPr/>
          </a:p>
        </p:txBody>
      </p:sp>
      <p:sp>
        <p:nvSpPr>
          <p:cNvPr id="1625605686" name="Callout text 2"/>
          <p:cNvSpPr txBox="1"/>
          <p:nvPr/>
        </p:nvSpPr>
        <p:spPr bwMode="auto">
          <a:xfrm>
            <a:off x="6263640" y="2587752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F36"/>
                </a:solidFill>
                <a:latin typeface="Calibri"/>
              </a:rPr>
              <a:t>Rain &gt; 6σ while T drops 6 °C. A univariate 3σ rule on rainfall deletes it, blinding the flood model.</a:t>
            </a:r>
            <a:endParaRPr/>
          </a:p>
        </p:txBody>
      </p:sp>
      <p:sp>
        <p:nvSpPr>
          <p:cNvPr id="811199882" name="Callout 3"/>
          <p:cNvSpPr/>
          <p:nvPr/>
        </p:nvSpPr>
        <p:spPr bwMode="auto">
          <a:xfrm>
            <a:off x="6126480" y="3300984"/>
            <a:ext cx="2560320" cy="1033271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10785037" name="Badge !"/>
          <p:cNvSpPr/>
          <p:nvPr/>
        </p:nvSpPr>
        <p:spPr bwMode="auto">
          <a:xfrm>
            <a:off x="6263640" y="3429000"/>
            <a:ext cx="237744" cy="237744"/>
          </a:xfrm>
          <a:prstGeom prst="ellipse">
            <a:avLst/>
          </a:prstGeom>
          <a:solidFill>
            <a:srgbClr val="E7A317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  <a:endParaRPr/>
          </a:p>
        </p:txBody>
      </p:sp>
      <p:sp>
        <p:nvSpPr>
          <p:cNvPr id="1488108548" name="Callout title 3"/>
          <p:cNvSpPr txBox="1"/>
          <p:nvPr/>
        </p:nvSpPr>
        <p:spPr bwMode="auto">
          <a:xfrm>
            <a:off x="6583680" y="34107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B2A5C"/>
                </a:solidFill>
                <a:latin typeface="Calibri"/>
              </a:rPr>
              <a:t>Diurnal blindness</a:t>
            </a:r>
            <a:endParaRPr/>
          </a:p>
        </p:txBody>
      </p:sp>
      <p:sp>
        <p:nvSpPr>
          <p:cNvPr id="123673104" name="Callout text 3"/>
          <p:cNvSpPr txBox="1"/>
          <p:nvPr/>
        </p:nvSpPr>
        <p:spPr bwMode="auto">
          <a:xfrm>
            <a:off x="6263640" y="3712463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F36"/>
                </a:solidFill>
                <a:latin typeface="Calibri"/>
              </a:rPr>
              <a:t>The 24 h heating cycle itself inflates σ on raw data, so the bands are too wide to catch subtle drift.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093731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10"/>
              <a:t>Mathematical</a:t>
            </a:r>
            <a:r>
              <a:rPr spc="-155"/>
              <a:t> </a:t>
            </a:r>
            <a:r>
              <a:rPr spc="-10"/>
              <a:t>Formulation</a:t>
            </a:r>
            <a:endParaRPr/>
          </a:p>
        </p:txBody>
      </p:sp>
      <p:grpSp>
        <p:nvGrpSpPr>
          <p:cNvPr id="1183459974" name="object 3"/>
          <p:cNvGrpSpPr/>
          <p:nvPr/>
        </p:nvGrpSpPr>
        <p:grpSpPr bwMode="auto">
          <a:xfrm>
            <a:off x="450850" y="1136650"/>
            <a:ext cx="3944620" cy="3213100"/>
            <a:chOff x="450850" y="1136650"/>
            <a:chExt cx="3944620" cy="321310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43000"/>
              <a:ext cx="3931920" cy="3200400"/>
            </a:xfrm>
            <a:custGeom>
              <a:avLst/>
              <a:gdLst/>
              <a:ahLst/>
              <a:cxnLst/>
              <a:rect l="l" t="t" r="r" b="b"/>
              <a:pathLst>
                <a:path w="3931920" h="3200400" fill="norm" stroke="1" extrusionOk="0">
                  <a:moveTo>
                    <a:pt x="3840484" y="3200399"/>
                  </a:moveTo>
                  <a:lnTo>
                    <a:pt x="91435" y="3200399"/>
                  </a:lnTo>
                  <a:lnTo>
                    <a:pt x="55844" y="3193214"/>
                  </a:lnTo>
                  <a:lnTo>
                    <a:pt x="26780" y="3173619"/>
                  </a:lnTo>
                  <a:lnTo>
                    <a:pt x="7185" y="3144555"/>
                  </a:lnTo>
                  <a:lnTo>
                    <a:pt x="0" y="3108964"/>
                  </a:lnTo>
                  <a:lnTo>
                    <a:pt x="0" y="91435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5" y="0"/>
                  </a:lnTo>
                  <a:lnTo>
                    <a:pt x="3840484" y="0"/>
                  </a:lnTo>
                  <a:lnTo>
                    <a:pt x="3891212" y="15362"/>
                  </a:lnTo>
                  <a:lnTo>
                    <a:pt x="3924959" y="56444"/>
                  </a:lnTo>
                  <a:lnTo>
                    <a:pt x="3931919" y="91435"/>
                  </a:lnTo>
                  <a:lnTo>
                    <a:pt x="3931919" y="3108964"/>
                  </a:lnTo>
                  <a:lnTo>
                    <a:pt x="3924734" y="3144555"/>
                  </a:lnTo>
                  <a:lnTo>
                    <a:pt x="3905139" y="3173619"/>
                  </a:lnTo>
                  <a:lnTo>
                    <a:pt x="3876075" y="3193214"/>
                  </a:lnTo>
                  <a:lnTo>
                    <a:pt x="3840484" y="320039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43000"/>
              <a:ext cx="3931920" cy="3200400"/>
            </a:xfrm>
            <a:custGeom>
              <a:avLst/>
              <a:gdLst/>
              <a:ahLst/>
              <a:cxnLst/>
              <a:rect l="l" t="t" r="r" b="b"/>
              <a:pathLst>
                <a:path w="3931920" h="3200400" fill="norm" stroke="1" extrusionOk="0">
                  <a:moveTo>
                    <a:pt x="0" y="91435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5" y="0"/>
                  </a:lnTo>
                  <a:lnTo>
                    <a:pt x="3840484" y="0"/>
                  </a:lnTo>
                  <a:lnTo>
                    <a:pt x="3891212" y="15362"/>
                  </a:lnTo>
                  <a:lnTo>
                    <a:pt x="3924959" y="56444"/>
                  </a:lnTo>
                  <a:lnTo>
                    <a:pt x="3931919" y="91435"/>
                  </a:lnTo>
                  <a:lnTo>
                    <a:pt x="3931919" y="3108964"/>
                  </a:lnTo>
                  <a:lnTo>
                    <a:pt x="3924734" y="3144555"/>
                  </a:lnTo>
                  <a:lnTo>
                    <a:pt x="3905139" y="3173619"/>
                  </a:lnTo>
                  <a:lnTo>
                    <a:pt x="3876075" y="3193214"/>
                  </a:lnTo>
                  <a:lnTo>
                    <a:pt x="3840484" y="3200399"/>
                  </a:lnTo>
                  <a:lnTo>
                    <a:pt x="91435" y="3200399"/>
                  </a:lnTo>
                  <a:lnTo>
                    <a:pt x="55844" y="3193214"/>
                  </a:lnTo>
                  <a:lnTo>
                    <a:pt x="26780" y="3173619"/>
                  </a:lnTo>
                  <a:lnTo>
                    <a:pt x="7185" y="3144555"/>
                  </a:lnTo>
                  <a:lnTo>
                    <a:pt x="0" y="3108964"/>
                  </a:lnTo>
                  <a:lnTo>
                    <a:pt x="0" y="91435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98251367" name="object 6"/>
          <p:cNvSpPr txBox="1"/>
          <p:nvPr/>
        </p:nvSpPr>
        <p:spPr bwMode="auto">
          <a:xfrm>
            <a:off x="718820" y="1352803"/>
            <a:ext cx="1402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b="1">
                <a:solidFill>
                  <a:srgbClr val="E7A317"/>
                </a:solidFill>
                <a:latin typeface="Calibri"/>
                <a:cs typeface="Calibri"/>
              </a:rPr>
              <a:t>OBJECTIVE FUNCTION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76778033" name="object 8"/>
          <p:cNvGrpSpPr/>
          <p:nvPr/>
        </p:nvGrpSpPr>
        <p:grpSpPr bwMode="auto">
          <a:xfrm>
            <a:off x="4657090" y="1136650"/>
            <a:ext cx="4036060" cy="762635"/>
            <a:chOff x="4657090" y="1136650"/>
            <a:chExt cx="4036060" cy="762635"/>
          </a:xfrm>
        </p:grpSpPr>
        <p:sp>
          <p:nvSpPr>
            <p:cNvPr id="9" name="object 9"/>
            <p:cNvSpPr/>
            <p:nvPr/>
          </p:nvSpPr>
          <p:spPr bwMode="auto">
            <a:xfrm>
              <a:off x="4663440" y="1143000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4663440" y="1143000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4846320" y="133502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4846320" y="133502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12479043" name="object 13"/>
          <p:cNvSpPr txBox="1"/>
          <p:nvPr/>
        </p:nvSpPr>
        <p:spPr bwMode="auto">
          <a:xfrm>
            <a:off x="4971467" y="1391411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00745776" name="object 14"/>
          <p:cNvSpPr txBox="1"/>
          <p:nvPr/>
        </p:nvSpPr>
        <p:spPr bwMode="auto">
          <a:xfrm>
            <a:off x="5382260" y="1120139"/>
            <a:ext cx="320040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Variables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defRPr/>
            </a:pPr>
            <a:r>
              <a:rPr sz="1100">
                <a:solidFill>
                  <a:srgbClr val="1A1F36"/>
                </a:solidFill>
                <a:latin typeface="Calibri"/>
                <a:cs typeface="Calibri"/>
              </a:rPr>
              <a:t>xₜ = [T, H, P, R, W]ᵀ ∈ ℝ⁵ every Δt = 15 min → output ŷₜ ∈ {0,1} + reason code rₜ ∈ {0,1}⁴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52697237" name="object 15"/>
          <p:cNvGrpSpPr/>
          <p:nvPr/>
        </p:nvGrpSpPr>
        <p:grpSpPr bwMode="auto">
          <a:xfrm>
            <a:off x="4657090" y="1950466"/>
            <a:ext cx="4036060" cy="762635"/>
            <a:chOff x="4657090" y="1950466"/>
            <a:chExt cx="4036060" cy="762635"/>
          </a:xfrm>
        </p:grpSpPr>
        <p:sp>
          <p:nvSpPr>
            <p:cNvPr id="16" name="object 16"/>
            <p:cNvSpPr/>
            <p:nvPr/>
          </p:nvSpPr>
          <p:spPr bwMode="auto">
            <a:xfrm>
              <a:off x="4663440" y="1956816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4663440" y="1956816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4846320" y="21488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" name="object 19"/>
            <p:cNvSpPr/>
            <p:nvPr/>
          </p:nvSpPr>
          <p:spPr bwMode="auto">
            <a:xfrm>
              <a:off x="4846320" y="21488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60395848" name="object 20"/>
          <p:cNvSpPr txBox="1"/>
          <p:nvPr/>
        </p:nvSpPr>
        <p:spPr bwMode="auto">
          <a:xfrm>
            <a:off x="4971467" y="220522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72278971" name="object 21"/>
          <p:cNvSpPr txBox="1"/>
          <p:nvPr/>
        </p:nvSpPr>
        <p:spPr bwMode="auto">
          <a:xfrm>
            <a:off x="5382260" y="1933955"/>
            <a:ext cx="320040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Inputs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defRPr/>
            </a:pPr>
            <a:r>
              <a:rPr sz="1100">
                <a:solidFill>
                  <a:srgbClr val="1A1F36"/>
                </a:solidFill>
                <a:latin typeface="Calibri"/>
                <a:cs typeface="Calibri"/>
              </a:rPr>
              <a:t>Hourly/15-min AWS telemetry, diurnal profile, MAD scales, robust covariance Σ̂, satellite rain rate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41027196" name="object 22"/>
          <p:cNvGrpSpPr/>
          <p:nvPr/>
        </p:nvGrpSpPr>
        <p:grpSpPr bwMode="auto">
          <a:xfrm>
            <a:off x="4657090" y="2764282"/>
            <a:ext cx="4036060" cy="762635"/>
            <a:chOff x="4657090" y="2764282"/>
            <a:chExt cx="4036060" cy="762635"/>
          </a:xfrm>
        </p:grpSpPr>
        <p:sp>
          <p:nvSpPr>
            <p:cNvPr id="23" name="object 23"/>
            <p:cNvSpPr/>
            <p:nvPr/>
          </p:nvSpPr>
          <p:spPr bwMode="auto">
            <a:xfrm>
              <a:off x="4663440" y="2770632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4" name="object 24"/>
            <p:cNvSpPr/>
            <p:nvPr/>
          </p:nvSpPr>
          <p:spPr bwMode="auto">
            <a:xfrm>
              <a:off x="4663440" y="2770632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5" name="object 25"/>
            <p:cNvSpPr/>
            <p:nvPr/>
          </p:nvSpPr>
          <p:spPr bwMode="auto">
            <a:xfrm>
              <a:off x="4846320" y="296265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6" name="object 26"/>
            <p:cNvSpPr/>
            <p:nvPr/>
          </p:nvSpPr>
          <p:spPr bwMode="auto">
            <a:xfrm>
              <a:off x="4846320" y="296265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49418983" name="object 27"/>
          <p:cNvSpPr txBox="1"/>
          <p:nvPr/>
        </p:nvSpPr>
        <p:spPr bwMode="auto">
          <a:xfrm>
            <a:off x="4971467" y="3019044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89455115" name="object 28"/>
          <p:cNvSpPr txBox="1"/>
          <p:nvPr/>
        </p:nvSpPr>
        <p:spPr bwMode="auto">
          <a:xfrm>
            <a:off x="5382260" y="2747771"/>
            <a:ext cx="320040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Constraints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defRPr/>
            </a:pPr>
            <a:r>
              <a:rPr sz="1100">
                <a:solidFill>
                  <a:srgbClr val="1A1F36"/>
                </a:solidFill>
                <a:latin typeface="Calibri"/>
                <a:cs typeface="Calibri"/>
              </a:rPr>
              <a:t>Physical bounds at 920 m: T ∈ [−5, 50] °C, H ∈ [0, 100]%, P ∈ [880, 940] hPa, R ≤ 150 mm/hr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75327174" name="object 29"/>
          <p:cNvGrpSpPr/>
          <p:nvPr/>
        </p:nvGrpSpPr>
        <p:grpSpPr bwMode="auto">
          <a:xfrm>
            <a:off x="4657090" y="3578097"/>
            <a:ext cx="4036060" cy="762635"/>
            <a:chOff x="4657090" y="3578097"/>
            <a:chExt cx="4036060" cy="762635"/>
          </a:xfrm>
        </p:grpSpPr>
        <p:sp>
          <p:nvSpPr>
            <p:cNvPr id="30" name="object 30"/>
            <p:cNvSpPr/>
            <p:nvPr/>
          </p:nvSpPr>
          <p:spPr bwMode="auto">
            <a:xfrm>
              <a:off x="4663440" y="3584447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1" name="object 31"/>
            <p:cNvSpPr/>
            <p:nvPr/>
          </p:nvSpPr>
          <p:spPr bwMode="auto">
            <a:xfrm>
              <a:off x="4663440" y="3584447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2" name="object 32"/>
            <p:cNvSpPr/>
            <p:nvPr/>
          </p:nvSpPr>
          <p:spPr bwMode="auto">
            <a:xfrm>
              <a:off x="4846320" y="3776471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6"/>
                  </a:lnTo>
                  <a:lnTo>
                    <a:pt x="335033" y="81417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3" name="object 33"/>
            <p:cNvSpPr/>
            <p:nvPr/>
          </p:nvSpPr>
          <p:spPr bwMode="auto">
            <a:xfrm>
              <a:off x="4846320" y="3776471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6"/>
                  </a:lnTo>
                  <a:lnTo>
                    <a:pt x="335033" y="81417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33478837" name="object 34"/>
          <p:cNvSpPr txBox="1"/>
          <p:nvPr/>
        </p:nvSpPr>
        <p:spPr bwMode="auto">
          <a:xfrm>
            <a:off x="4971467" y="3832860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764644" name="object 35"/>
          <p:cNvSpPr txBox="1"/>
          <p:nvPr/>
        </p:nvSpPr>
        <p:spPr bwMode="auto">
          <a:xfrm>
            <a:off x="5382260" y="3561588"/>
            <a:ext cx="320040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Assumptions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defRPr/>
            </a:pPr>
            <a:r>
              <a:rPr sz="1100">
                <a:solidFill>
                  <a:srgbClr val="1A1F36"/>
                </a:solidFill>
                <a:latin typeface="Calibri"/>
                <a:cs typeface="Calibri"/>
              </a:rPr>
              <a:t>Residual eₜ locally stationary after removing trend + 24 h cycle; &lt; 50% of any window is faulty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08026596" name="object 3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pic>
        <p:nvPicPr>
          <p:cNvPr id="606528861" name="Equation 1" descr="\max_{\boldsymbol{\theta}}\ F_1(\boldsymbol{\theta})=\frac{2\,TP}{2\,TP+FP+FN}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2376" y="1664208"/>
            <a:ext cx="3209010" cy="476707"/>
          </a:xfrm>
          <a:prstGeom prst="rect">
            <a:avLst/>
          </a:prstGeom>
        </p:spPr>
      </p:pic>
      <p:pic>
        <p:nvPicPr>
          <p:cNvPr id="1988040499" name="Equation 2" descr="\mathrm{s.t.}\quad FPR(\boldsymbol{\theta})=\frac{FP}{FP+TN}\leq\alpha_{\max}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2376" y="2287219"/>
            <a:ext cx="3429000" cy="334797"/>
          </a:xfrm>
          <a:prstGeom prst="rect">
            <a:avLst/>
          </a:prstGeom>
        </p:spPr>
      </p:pic>
      <p:pic>
        <p:nvPicPr>
          <p:cNvPr id="1215254431" name="Equation 3" descr="\qquad\ \mathbb{E}[\Delta t]\leq\Delta t_{\max}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2376" y="2768320"/>
            <a:ext cx="2313889" cy="297637"/>
          </a:xfrm>
          <a:prstGeom prst="rect">
            <a:avLst/>
          </a:prstGeom>
        </p:spPr>
      </p:pic>
      <p:pic>
        <p:nvPicPr>
          <p:cNvPr id="1811728727" name="Equation 4" descr="\boldsymbol{\theta}=\{\tau_{MAD},\ h_{CUSUM},\ \tau_{\chi^2},\ \tau_{DST}\}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22376" y="3212261"/>
            <a:ext cx="3215030" cy="344271"/>
          </a:xfrm>
          <a:prstGeom prst="rect">
            <a:avLst/>
          </a:prstGeom>
        </p:spPr>
      </p:pic>
      <p:sp>
        <p:nvSpPr>
          <p:cNvPr id="1817873100" name="Objective caption"/>
          <p:cNvSpPr txBox="1"/>
          <p:nvPr/>
        </p:nvSpPr>
        <p:spPr bwMode="auto">
          <a:xfrm>
            <a:off x="722376" y="373075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9D3E6"/>
                </a:solidFill>
                <a:latin typeface="Calibri"/>
              </a:rPr>
              <a:t>Maximise detection quality while bounding the false-alarm rate (α max = 1%) and the detection delay.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593098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ext cx="822960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Fault Taxonomy</a:t>
            </a:r>
            <a:endParaRPr/>
          </a:p>
        </p:txBody>
      </p:sp>
      <p:grpSp>
        <p:nvGrpSpPr>
          <p:cNvPr id="467845959" name="object 3"/>
          <p:cNvGrpSpPr/>
          <p:nvPr/>
        </p:nvGrpSpPr>
        <p:grpSpPr bwMode="auto">
          <a:xfrm>
            <a:off x="450850" y="1136650"/>
            <a:ext cx="3944620" cy="3213100"/>
            <a:chOff x="450850" y="1136650"/>
            <a:chExt cx="3944620" cy="321310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43000"/>
              <a:ext cx="3931920" cy="3200400"/>
            </a:xfrm>
            <a:custGeom>
              <a:avLst/>
              <a:gdLst/>
              <a:ahLst/>
              <a:cxnLst/>
              <a:rect l="l" t="t" r="r" b="b"/>
              <a:pathLst>
                <a:path w="3931920" h="3200400" fill="norm" stroke="1" extrusionOk="0">
                  <a:moveTo>
                    <a:pt x="3840484" y="3200399"/>
                  </a:moveTo>
                  <a:lnTo>
                    <a:pt x="91435" y="3200399"/>
                  </a:lnTo>
                  <a:lnTo>
                    <a:pt x="55844" y="3193214"/>
                  </a:lnTo>
                  <a:lnTo>
                    <a:pt x="26780" y="3173619"/>
                  </a:lnTo>
                  <a:lnTo>
                    <a:pt x="7185" y="3144555"/>
                  </a:lnTo>
                  <a:lnTo>
                    <a:pt x="0" y="3108964"/>
                  </a:lnTo>
                  <a:lnTo>
                    <a:pt x="0" y="91435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5" y="0"/>
                  </a:lnTo>
                  <a:lnTo>
                    <a:pt x="3840484" y="0"/>
                  </a:lnTo>
                  <a:lnTo>
                    <a:pt x="3891212" y="15362"/>
                  </a:lnTo>
                  <a:lnTo>
                    <a:pt x="3924959" y="56444"/>
                  </a:lnTo>
                  <a:lnTo>
                    <a:pt x="3931919" y="91435"/>
                  </a:lnTo>
                  <a:lnTo>
                    <a:pt x="3931919" y="3108964"/>
                  </a:lnTo>
                  <a:lnTo>
                    <a:pt x="3924734" y="3144555"/>
                  </a:lnTo>
                  <a:lnTo>
                    <a:pt x="3905139" y="3173619"/>
                  </a:lnTo>
                  <a:lnTo>
                    <a:pt x="3876075" y="3193214"/>
                  </a:lnTo>
                  <a:lnTo>
                    <a:pt x="3840484" y="320039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43000"/>
              <a:ext cx="3931920" cy="3200400"/>
            </a:xfrm>
            <a:custGeom>
              <a:avLst/>
              <a:gdLst/>
              <a:ahLst/>
              <a:cxnLst/>
              <a:rect l="l" t="t" r="r" b="b"/>
              <a:pathLst>
                <a:path w="3931920" h="3200400" fill="norm" stroke="1" extrusionOk="0">
                  <a:moveTo>
                    <a:pt x="0" y="91435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5" y="0"/>
                  </a:lnTo>
                  <a:lnTo>
                    <a:pt x="3840484" y="0"/>
                  </a:lnTo>
                  <a:lnTo>
                    <a:pt x="3891212" y="15362"/>
                  </a:lnTo>
                  <a:lnTo>
                    <a:pt x="3924959" y="56444"/>
                  </a:lnTo>
                  <a:lnTo>
                    <a:pt x="3931919" y="91435"/>
                  </a:lnTo>
                  <a:lnTo>
                    <a:pt x="3931919" y="3108964"/>
                  </a:lnTo>
                  <a:lnTo>
                    <a:pt x="3924734" y="3144555"/>
                  </a:lnTo>
                  <a:lnTo>
                    <a:pt x="3905139" y="3173619"/>
                  </a:lnTo>
                  <a:lnTo>
                    <a:pt x="3876075" y="3193214"/>
                  </a:lnTo>
                  <a:lnTo>
                    <a:pt x="3840484" y="3200399"/>
                  </a:lnTo>
                  <a:lnTo>
                    <a:pt x="91435" y="3200399"/>
                  </a:lnTo>
                  <a:lnTo>
                    <a:pt x="55844" y="3193214"/>
                  </a:lnTo>
                  <a:lnTo>
                    <a:pt x="26780" y="3173619"/>
                  </a:lnTo>
                  <a:lnTo>
                    <a:pt x="7185" y="3144555"/>
                  </a:lnTo>
                  <a:lnTo>
                    <a:pt x="0" y="3108964"/>
                  </a:lnTo>
                  <a:lnTo>
                    <a:pt x="0" y="91435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20813289" name="object 6"/>
          <p:cNvSpPr txBox="1"/>
          <p:nvPr/>
        </p:nvSpPr>
        <p:spPr bwMode="auto">
          <a:xfrm>
            <a:off x="718820" y="1352803"/>
            <a:ext cx="14020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b="1">
                <a:solidFill>
                  <a:srgbClr val="E7A317"/>
                </a:solidFill>
                <a:latin typeface="Calibri"/>
                <a:cs typeface="Calibri"/>
              </a:rPr>
              <a:t>SIGNAL MODEL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68228704" name="object 8"/>
          <p:cNvGrpSpPr/>
          <p:nvPr/>
        </p:nvGrpSpPr>
        <p:grpSpPr bwMode="auto">
          <a:xfrm>
            <a:off x="4657090" y="1136650"/>
            <a:ext cx="4036060" cy="762635"/>
            <a:chOff x="4657090" y="1136650"/>
            <a:chExt cx="4036060" cy="762635"/>
          </a:xfrm>
        </p:grpSpPr>
        <p:sp>
          <p:nvSpPr>
            <p:cNvPr id="9" name="object 9"/>
            <p:cNvSpPr/>
            <p:nvPr/>
          </p:nvSpPr>
          <p:spPr bwMode="auto">
            <a:xfrm>
              <a:off x="4663440" y="1143000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4663440" y="1143000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4846320" y="133502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4846320" y="133502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92853844" name="object 13"/>
          <p:cNvSpPr txBox="1"/>
          <p:nvPr/>
        </p:nvSpPr>
        <p:spPr bwMode="auto">
          <a:xfrm>
            <a:off x="4971467" y="1391411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37998807" name="object 14"/>
          <p:cNvSpPr txBox="1"/>
          <p:nvPr/>
        </p:nvSpPr>
        <p:spPr bwMode="auto">
          <a:xfrm>
            <a:off x="5382260" y="1110995"/>
            <a:ext cx="310896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300" b="1">
                <a:solidFill>
                  <a:srgbClr val="1B2A5C"/>
                </a:solidFill>
                <a:latin typeface="Calibri"/>
                <a:cs typeface="Calibri"/>
              </a:rPr>
              <a:t>Point spike · ADC surge, bit-flip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978958" name="object 15"/>
          <p:cNvGrpSpPr/>
          <p:nvPr/>
        </p:nvGrpSpPr>
        <p:grpSpPr bwMode="auto">
          <a:xfrm>
            <a:off x="4657090" y="1950466"/>
            <a:ext cx="4036060" cy="762635"/>
            <a:chOff x="4657090" y="1950466"/>
            <a:chExt cx="4036060" cy="762635"/>
          </a:xfrm>
        </p:grpSpPr>
        <p:sp>
          <p:nvSpPr>
            <p:cNvPr id="16" name="object 16"/>
            <p:cNvSpPr/>
            <p:nvPr/>
          </p:nvSpPr>
          <p:spPr bwMode="auto">
            <a:xfrm>
              <a:off x="4663440" y="1956816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4663440" y="1956816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4846320" y="21488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" name="object 19"/>
            <p:cNvSpPr/>
            <p:nvPr/>
          </p:nvSpPr>
          <p:spPr bwMode="auto">
            <a:xfrm>
              <a:off x="4846320" y="214884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86536978" name="object 20"/>
          <p:cNvSpPr txBox="1"/>
          <p:nvPr/>
        </p:nvSpPr>
        <p:spPr bwMode="auto">
          <a:xfrm>
            <a:off x="4971467" y="2205227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42648180" name="object 21"/>
          <p:cNvSpPr txBox="1"/>
          <p:nvPr/>
        </p:nvSpPr>
        <p:spPr bwMode="auto">
          <a:xfrm>
            <a:off x="5382260" y="1924811"/>
            <a:ext cx="310896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300" b="1">
                <a:solidFill>
                  <a:srgbClr val="1B2A5C"/>
                </a:solidFill>
                <a:latin typeface="Calibri"/>
                <a:cs typeface="Calibri"/>
              </a:rPr>
              <a:t>Flatline · clogged gauge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93312685" name="object 22"/>
          <p:cNvGrpSpPr/>
          <p:nvPr/>
        </p:nvGrpSpPr>
        <p:grpSpPr bwMode="auto">
          <a:xfrm>
            <a:off x="4657090" y="2764282"/>
            <a:ext cx="4036060" cy="762635"/>
            <a:chOff x="4657090" y="2764282"/>
            <a:chExt cx="4036060" cy="762635"/>
          </a:xfrm>
        </p:grpSpPr>
        <p:sp>
          <p:nvSpPr>
            <p:cNvPr id="23" name="object 23"/>
            <p:cNvSpPr/>
            <p:nvPr/>
          </p:nvSpPr>
          <p:spPr bwMode="auto">
            <a:xfrm>
              <a:off x="4663440" y="2770632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4" name="object 24"/>
            <p:cNvSpPr/>
            <p:nvPr/>
          </p:nvSpPr>
          <p:spPr bwMode="auto">
            <a:xfrm>
              <a:off x="4663440" y="2770632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5" name="object 25"/>
            <p:cNvSpPr/>
            <p:nvPr/>
          </p:nvSpPr>
          <p:spPr bwMode="auto">
            <a:xfrm>
              <a:off x="4846320" y="296265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6" name="object 26"/>
            <p:cNvSpPr/>
            <p:nvPr/>
          </p:nvSpPr>
          <p:spPr bwMode="auto">
            <a:xfrm>
              <a:off x="4846320" y="2962656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5"/>
                  </a:lnTo>
                  <a:lnTo>
                    <a:pt x="335033" y="81418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84572232" name="object 27"/>
          <p:cNvSpPr txBox="1"/>
          <p:nvPr/>
        </p:nvSpPr>
        <p:spPr bwMode="auto">
          <a:xfrm>
            <a:off x="4971467" y="3019044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48999659" name="object 28"/>
          <p:cNvSpPr txBox="1"/>
          <p:nvPr/>
        </p:nvSpPr>
        <p:spPr bwMode="auto">
          <a:xfrm>
            <a:off x="5382260" y="2738627"/>
            <a:ext cx="310896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300" b="1">
                <a:solidFill>
                  <a:srgbClr val="1B2A5C"/>
                </a:solidFill>
                <a:latin typeface="Calibri"/>
                <a:cs typeface="Calibri"/>
              </a:rPr>
              <a:t>Calibration drift · ageing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52335822" name="object 29"/>
          <p:cNvGrpSpPr/>
          <p:nvPr/>
        </p:nvGrpSpPr>
        <p:grpSpPr bwMode="auto">
          <a:xfrm>
            <a:off x="4657090" y="3578097"/>
            <a:ext cx="4036060" cy="762635"/>
            <a:chOff x="4657090" y="3578097"/>
            <a:chExt cx="4036060" cy="762635"/>
          </a:xfrm>
        </p:grpSpPr>
        <p:sp>
          <p:nvSpPr>
            <p:cNvPr id="30" name="object 30"/>
            <p:cNvSpPr/>
            <p:nvPr/>
          </p:nvSpPr>
          <p:spPr bwMode="auto">
            <a:xfrm>
              <a:off x="4663440" y="3584447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3950208" y="749807"/>
                  </a:move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1" name="object 31"/>
            <p:cNvSpPr/>
            <p:nvPr/>
          </p:nvSpPr>
          <p:spPr bwMode="auto">
            <a:xfrm>
              <a:off x="4663440" y="3584447"/>
              <a:ext cx="4023360" cy="749935"/>
            </a:xfrm>
            <a:custGeom>
              <a:avLst/>
              <a:gdLst/>
              <a:ahLst/>
              <a:cxnLst/>
              <a:rect l="l" t="t" r="r" b="b"/>
              <a:pathLst>
                <a:path w="4023359" h="749935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3950208" y="0"/>
                  </a:lnTo>
                  <a:lnTo>
                    <a:pt x="3990793" y="12290"/>
                  </a:lnTo>
                  <a:lnTo>
                    <a:pt x="4017791" y="45157"/>
                  </a:lnTo>
                  <a:lnTo>
                    <a:pt x="4023359" y="73151"/>
                  </a:lnTo>
                  <a:lnTo>
                    <a:pt x="4023359" y="676656"/>
                  </a:lnTo>
                  <a:lnTo>
                    <a:pt x="4017611" y="705130"/>
                  </a:lnTo>
                  <a:lnTo>
                    <a:pt x="4001934" y="728382"/>
                  </a:lnTo>
                  <a:lnTo>
                    <a:pt x="3978682" y="744059"/>
                  </a:lnTo>
                  <a:lnTo>
                    <a:pt x="3950208" y="749807"/>
                  </a:lnTo>
                  <a:lnTo>
                    <a:pt x="73151" y="749807"/>
                  </a:lnTo>
                  <a:lnTo>
                    <a:pt x="44677" y="744059"/>
                  </a:lnTo>
                  <a:lnTo>
                    <a:pt x="21425" y="728382"/>
                  </a:lnTo>
                  <a:lnTo>
                    <a:pt x="5748" y="705130"/>
                  </a:lnTo>
                  <a:lnTo>
                    <a:pt x="0" y="676656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2" name="object 32"/>
            <p:cNvSpPr/>
            <p:nvPr/>
          </p:nvSpPr>
          <p:spPr bwMode="auto">
            <a:xfrm>
              <a:off x="4846320" y="3776471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182879" y="365759"/>
                  </a:move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6"/>
                  </a:lnTo>
                  <a:lnTo>
                    <a:pt x="335033" y="81417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3" name="object 33"/>
            <p:cNvSpPr/>
            <p:nvPr/>
          </p:nvSpPr>
          <p:spPr bwMode="auto">
            <a:xfrm>
              <a:off x="4846320" y="3776471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 fill="norm" stroke="1" extrusionOk="0">
                  <a:moveTo>
                    <a:pt x="0" y="182879"/>
                  </a:moveTo>
                  <a:lnTo>
                    <a:pt x="6532" y="134263"/>
                  </a:lnTo>
                  <a:lnTo>
                    <a:pt x="24968" y="90576"/>
                  </a:lnTo>
                  <a:lnTo>
                    <a:pt x="53564" y="53564"/>
                  </a:lnTo>
                  <a:lnTo>
                    <a:pt x="90576" y="24968"/>
                  </a:lnTo>
                  <a:lnTo>
                    <a:pt x="134263" y="6532"/>
                  </a:lnTo>
                  <a:lnTo>
                    <a:pt x="182879" y="0"/>
                  </a:lnTo>
                  <a:lnTo>
                    <a:pt x="218724" y="3546"/>
                  </a:lnTo>
                  <a:lnTo>
                    <a:pt x="284341" y="30726"/>
                  </a:lnTo>
                  <a:lnTo>
                    <a:pt x="335033" y="81417"/>
                  </a:lnTo>
                  <a:lnTo>
                    <a:pt x="362213" y="147035"/>
                  </a:lnTo>
                  <a:lnTo>
                    <a:pt x="365759" y="182879"/>
                  </a:lnTo>
                  <a:lnTo>
                    <a:pt x="359227" y="231496"/>
                  </a:lnTo>
                  <a:lnTo>
                    <a:pt x="340791" y="275183"/>
                  </a:lnTo>
                  <a:lnTo>
                    <a:pt x="312195" y="312195"/>
                  </a:lnTo>
                  <a:lnTo>
                    <a:pt x="275183" y="340791"/>
                  </a:lnTo>
                  <a:lnTo>
                    <a:pt x="231496" y="359227"/>
                  </a:lnTo>
                  <a:lnTo>
                    <a:pt x="182879" y="365759"/>
                  </a:lnTo>
                  <a:lnTo>
                    <a:pt x="134263" y="359227"/>
                  </a:lnTo>
                  <a:lnTo>
                    <a:pt x="90576" y="340791"/>
                  </a:lnTo>
                  <a:lnTo>
                    <a:pt x="53564" y="312195"/>
                  </a:lnTo>
                  <a:lnTo>
                    <a:pt x="24968" y="275183"/>
                  </a:lnTo>
                  <a:lnTo>
                    <a:pt x="6532" y="231496"/>
                  </a:lnTo>
                  <a:lnTo>
                    <a:pt x="0" y="182879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40147592" name="object 34"/>
          <p:cNvSpPr txBox="1"/>
          <p:nvPr/>
        </p:nvSpPr>
        <p:spPr bwMode="auto">
          <a:xfrm>
            <a:off x="4971467" y="3832860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400" b="1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3564210" name="object 35"/>
          <p:cNvSpPr txBox="1"/>
          <p:nvPr/>
        </p:nvSpPr>
        <p:spPr bwMode="auto">
          <a:xfrm>
            <a:off x="5382260" y="3552444"/>
            <a:ext cx="3108960" cy="5892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  <a:defRPr/>
            </a:pPr>
            <a:r>
              <a:rPr sz="1300" b="1">
                <a:solidFill>
                  <a:srgbClr val="1B2A5C"/>
                </a:solidFill>
                <a:latin typeface="Calibri"/>
                <a:cs typeface="Calibri"/>
              </a:rPr>
              <a:t>Physical inconsistency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98386448" name="object 36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pic>
        <p:nvPicPr>
          <p:cNvPr id="971824844" name="Equation 5" descr="x_{t,i}=\mu_{t,i}+S_{t,i}+\eta_{t,i}+\epsilon_{t,i}+f_{t,i}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2376" y="1691640"/>
            <a:ext cx="3309670" cy="263347"/>
          </a:xfrm>
          <a:prstGeom prst="rect">
            <a:avLst/>
          </a:prstGeom>
        </p:spPr>
      </p:pic>
      <p:pic>
        <p:nvPicPr>
          <p:cNvPr id="1889421640" name="Equation 6" descr="S_{t,i}=\sum_{m=1}^{M}\left[a_{i,m}\cos\frac{2\pi mt}{24\,h}+b_{i,m}\sin\frac{2\pi mt}{24\,h}\right]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2376" y="2119579"/>
            <a:ext cx="2912363" cy="505663"/>
          </a:xfrm>
          <a:prstGeom prst="rect">
            <a:avLst/>
          </a:prstGeom>
        </p:spPr>
      </p:pic>
      <p:sp>
        <p:nvSpPr>
          <p:cNvPr id="1634287901" name="Signal legend"/>
          <p:cNvSpPr txBox="1"/>
          <p:nvPr/>
        </p:nvSpPr>
        <p:spPr bwMode="auto">
          <a:xfrm>
            <a:off x="722376" y="2835554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μ </a:t>
            </a:r>
            <a:r>
              <a:rPr sz="1150" b="0" i="0">
                <a:solidFill>
                  <a:srgbClr val="C9D3E6"/>
                </a:solidFill>
                <a:latin typeface="Calibri"/>
              </a:rPr>
              <a:t>trend 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S </a:t>
            </a:r>
            <a:r>
              <a:rPr sz="1150" b="0" i="0">
                <a:solidFill>
                  <a:srgbClr val="C9D3E6"/>
                </a:solidFill>
                <a:latin typeface="Calibri"/>
              </a:rPr>
              <a:t>diurnal harmonics</a:t>
            </a:r>
            <a:endParaRPr/>
          </a:p>
          <a:p>
            <a:pPr algn="l">
              <a:spcBef>
                <a:spcPts val="400"/>
              </a:spcBef>
              <a:defRPr/>
            </a:pPr>
            <a:r>
              <a:rPr sz="1150" b="1" i="0">
                <a:solidFill>
                  <a:srgbClr val="FFFFFF"/>
                </a:solidFill>
                <a:latin typeface="Calibri"/>
              </a:rPr>
              <a:t>η </a:t>
            </a:r>
            <a:r>
              <a:rPr sz="1150" b="0" i="0">
                <a:solidFill>
                  <a:srgbClr val="C9D3E6"/>
                </a:solidFill>
                <a:latin typeface="Calibri"/>
              </a:rPr>
              <a:t>weather chaos 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ε </a:t>
            </a:r>
            <a:r>
              <a:rPr sz="1150" b="0" i="0">
                <a:solidFill>
                  <a:srgbClr val="C9D3E6"/>
                </a:solidFill>
                <a:latin typeface="Calibri"/>
              </a:rPr>
              <a:t>noise</a:t>
            </a:r>
            <a:endParaRPr/>
          </a:p>
          <a:p>
            <a:pPr algn="l">
              <a:spcBef>
                <a:spcPts val="400"/>
              </a:spcBef>
              <a:defRPr/>
            </a:pPr>
            <a:r>
              <a:rPr sz="1150" b="1" i="0">
                <a:solidFill>
                  <a:srgbClr val="F2A0AE"/>
                </a:solidFill>
                <a:latin typeface="Calibri"/>
              </a:rPr>
              <a:t>f </a:t>
            </a:r>
            <a:r>
              <a:rPr sz="1150" b="0" i="0">
                <a:solidFill>
                  <a:srgbClr val="C9D3E6"/>
                </a:solidFill>
                <a:latin typeface="Calibri"/>
              </a:rPr>
              <a:t>sensor fault — healthy sensor ⇔ f = 0</a:t>
            </a:r>
            <a:endParaRPr/>
          </a:p>
        </p:txBody>
      </p:sp>
      <p:pic>
        <p:nvPicPr>
          <p:cNvPr id="1417905855" name="Equation 7" descr="\mathrm{Goal:}\ \ \hat{y}_t=\mathbb{I}(\hat{f}_t\neq0)\ \ +\ \mathrm{reason\ code}\ \mathbf{r}_t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22376" y="3703320"/>
            <a:ext cx="3314700" cy="257175"/>
          </a:xfrm>
          <a:prstGeom prst="rect">
            <a:avLst/>
          </a:prstGeom>
        </p:spPr>
      </p:pic>
      <p:pic>
        <p:nvPicPr>
          <p:cNvPr id="941356573" name="Equation 8" descr="f_{t,i}=\delta\cdot\mathbb{I}(t=t_0),\quad|\delta|\gg3.5\,\sigma_{e,i}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385816" y="1485900"/>
            <a:ext cx="2405100" cy="197510"/>
          </a:xfrm>
          <a:prstGeom prst="rect">
            <a:avLst/>
          </a:prstGeom>
        </p:spPr>
      </p:pic>
      <p:pic>
        <p:nvPicPr>
          <p:cNvPr id="1611404749" name="Equation 9" descr="x_{t,i}=c\ \ \forall t\in[t_0,t_0+k]\ \Rightarrow\ s^2_{t,i}(k)&lt;10^{-6}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385816" y="2299715"/>
            <a:ext cx="3080956" cy="244830"/>
          </a:xfrm>
          <a:prstGeom prst="rect">
            <a:avLst/>
          </a:prstGeom>
        </p:spPr>
      </p:pic>
      <p:pic>
        <p:nvPicPr>
          <p:cNvPr id="1472227991" name="Equation 10" descr="f_{t,i}=\alpha\,(t-t_0)\,\mathbb{I}(t\geq t_0),\quad\alpha\neq0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385816" y="3113531"/>
            <a:ext cx="2369096" cy="197510"/>
          </a:xfrm>
          <a:prstGeom prst="rect">
            <a:avLst/>
          </a:prstGeom>
        </p:spPr>
      </p:pic>
      <p:pic>
        <p:nvPicPr>
          <p:cNvPr id="1036867134" name="Equation 11" descr="x_{t,i}\in[L_{\min},L_{\max}]\ \forall i,\ \ \mathbf{e}_t\notin\mathrm{thermodynamic\ covariance}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385816" y="3927348"/>
            <a:ext cx="3154680" cy="152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332754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Proposed</a:t>
            </a:r>
            <a:r>
              <a:rPr spc="-125"/>
              <a:t> </a:t>
            </a:r>
            <a:r>
              <a:rPr spc="-10"/>
              <a:t>Method</a:t>
            </a:r>
            <a:endParaRPr/>
          </a:p>
        </p:txBody>
      </p:sp>
      <p:grpSp>
        <p:nvGrpSpPr>
          <p:cNvPr id="785950538" name="object 3"/>
          <p:cNvGrpSpPr/>
          <p:nvPr/>
        </p:nvGrpSpPr>
        <p:grpSpPr bwMode="auto">
          <a:xfrm>
            <a:off x="450850" y="1136650"/>
            <a:ext cx="2664459" cy="2938780"/>
            <a:chOff x="450850" y="1136650"/>
            <a:chExt cx="2664459" cy="293878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 fill="norm" stroke="1" extrusionOk="0">
                  <a:moveTo>
                    <a:pt x="2560327" y="2926079"/>
                  </a:moveTo>
                  <a:lnTo>
                    <a:pt x="91432" y="2926079"/>
                  </a:lnTo>
                  <a:lnTo>
                    <a:pt x="55842" y="2918894"/>
                  </a:lnTo>
                  <a:lnTo>
                    <a:pt x="26780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lnTo>
                    <a:pt x="7185" y="55843"/>
                  </a:lnTo>
                  <a:lnTo>
                    <a:pt x="26780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 fill="norm" stroke="1" extrusionOk="0">
                  <a:moveTo>
                    <a:pt x="0" y="91432"/>
                  </a:moveTo>
                  <a:lnTo>
                    <a:pt x="7185" y="55843"/>
                  </a:lnTo>
                  <a:lnTo>
                    <a:pt x="26780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lnTo>
                    <a:pt x="91432" y="2926079"/>
                  </a:lnTo>
                  <a:lnTo>
                    <a:pt x="55842" y="2918894"/>
                  </a:lnTo>
                  <a:lnTo>
                    <a:pt x="26780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73152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 fill="norm" stroke="1" extrusionOk="0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73152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19" h="731519" fill="norm" stroke="1" extrusionOk="0">
                  <a:moveTo>
                    <a:pt x="0" y="365759"/>
                  </a:move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8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8" name="object 8"/>
            <p:cNvPicPr/>
            <p:nvPr/>
          </p:nvPicPr>
          <p:blipFill rotWithShape="1">
            <a:blip r:embed="rId3"/>
            <a:stretch/>
          </p:blipFill>
          <p:spPr bwMode="auto">
            <a:xfrm>
              <a:off x="929030" y="1614830"/>
              <a:ext cx="336498" cy="336498"/>
            </a:xfrm>
            <a:prstGeom prst="rect">
              <a:avLst/>
            </a:prstGeom>
          </p:spPr>
        </p:pic>
      </p:grpSp>
      <p:sp>
        <p:nvSpPr>
          <p:cNvPr id="2008064726" name="object 9"/>
          <p:cNvSpPr txBox="1"/>
          <p:nvPr/>
        </p:nvSpPr>
        <p:spPr bwMode="auto">
          <a:xfrm>
            <a:off x="718820" y="2176272"/>
            <a:ext cx="224028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Algorithm / Model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Hybrid 3-tier pipeline: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① physics invariants + flatline test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② robust MAD, CUSUM, MCD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③ chaos, topology, conformal test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④ ISRO/NASA satellite check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04467025" name="object 10"/>
          <p:cNvGrpSpPr/>
          <p:nvPr/>
        </p:nvGrpSpPr>
        <p:grpSpPr bwMode="auto">
          <a:xfrm>
            <a:off x="3239770" y="1136650"/>
            <a:ext cx="2664459" cy="2938780"/>
            <a:chOff x="3239770" y="1136650"/>
            <a:chExt cx="2664459" cy="2938780"/>
          </a:xfrm>
        </p:grpSpPr>
        <p:sp>
          <p:nvSpPr>
            <p:cNvPr id="11" name="object 11"/>
            <p:cNvSpPr/>
            <p:nvPr/>
          </p:nvSpPr>
          <p:spPr bwMode="auto">
            <a:xfrm>
              <a:off x="324612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 fill="norm" stroke="1" extrusionOk="0">
                  <a:moveTo>
                    <a:pt x="2560327" y="2926079"/>
                  </a:move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3246120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60" h="2926079" fill="norm" stroke="1" extrusionOk="0">
                  <a:moveTo>
                    <a:pt x="0" y="91432"/>
                  </a:move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4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352044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 fill="norm" stroke="1" extrusionOk="0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352044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 fill="norm" stroke="1" extrusionOk="0">
                  <a:moveTo>
                    <a:pt x="0" y="365759"/>
                  </a:move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5" name="object 15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717950" y="1614830"/>
              <a:ext cx="336498" cy="336498"/>
            </a:xfrm>
            <a:prstGeom prst="rect">
              <a:avLst/>
            </a:prstGeom>
          </p:spPr>
        </p:pic>
      </p:grpSp>
      <p:sp>
        <p:nvSpPr>
          <p:cNvPr id="1849304048" name="object 16"/>
          <p:cNvSpPr txBox="1"/>
          <p:nvPr/>
        </p:nvSpPr>
        <p:spPr bwMode="auto">
          <a:xfrm>
            <a:off x="3507740" y="2176272"/>
            <a:ext cx="224028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Justification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50%-breakdown estimators cannot be masked by the faults they detect.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Every flag carries its equation, score and threshold.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Runs on a micro-controller: O(W + d²) per record.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77513925" name="object 17"/>
          <p:cNvGrpSpPr/>
          <p:nvPr/>
        </p:nvGrpSpPr>
        <p:grpSpPr bwMode="auto">
          <a:xfrm>
            <a:off x="6028690" y="1136650"/>
            <a:ext cx="2664459" cy="2938780"/>
            <a:chOff x="6028690" y="1136650"/>
            <a:chExt cx="2664459" cy="2938780"/>
          </a:xfrm>
        </p:grpSpPr>
        <p:sp>
          <p:nvSpPr>
            <p:cNvPr id="18" name="object 18"/>
            <p:cNvSpPr/>
            <p:nvPr/>
          </p:nvSpPr>
          <p:spPr bwMode="auto">
            <a:xfrm>
              <a:off x="6035039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59" h="2926079" fill="norm" stroke="1" extrusionOk="0">
                  <a:moveTo>
                    <a:pt x="2560327" y="2926079"/>
                  </a:move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3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" name="object 19"/>
            <p:cNvSpPr/>
            <p:nvPr/>
          </p:nvSpPr>
          <p:spPr bwMode="auto">
            <a:xfrm>
              <a:off x="6035039" y="1143000"/>
              <a:ext cx="2651760" cy="2926080"/>
            </a:xfrm>
            <a:custGeom>
              <a:avLst/>
              <a:gdLst/>
              <a:ahLst/>
              <a:cxnLst/>
              <a:rect l="l" t="t" r="r" b="b"/>
              <a:pathLst>
                <a:path w="2651759" h="2926079" fill="norm" stroke="1" extrusionOk="0">
                  <a:moveTo>
                    <a:pt x="0" y="91432"/>
                  </a:moveTo>
                  <a:lnTo>
                    <a:pt x="7185" y="55843"/>
                  </a:lnTo>
                  <a:lnTo>
                    <a:pt x="26779" y="26780"/>
                  </a:lnTo>
                  <a:lnTo>
                    <a:pt x="55842" y="7185"/>
                  </a:lnTo>
                  <a:lnTo>
                    <a:pt x="91432" y="0"/>
                  </a:lnTo>
                  <a:lnTo>
                    <a:pt x="2560327" y="0"/>
                  </a:lnTo>
                  <a:lnTo>
                    <a:pt x="2611053" y="15361"/>
                  </a:lnTo>
                  <a:lnTo>
                    <a:pt x="2644800" y="56442"/>
                  </a:lnTo>
                  <a:lnTo>
                    <a:pt x="2651759" y="91432"/>
                  </a:lnTo>
                  <a:lnTo>
                    <a:pt x="2651759" y="2834647"/>
                  </a:lnTo>
                  <a:lnTo>
                    <a:pt x="2644574" y="2870237"/>
                  </a:lnTo>
                  <a:lnTo>
                    <a:pt x="2624979" y="2899299"/>
                  </a:lnTo>
                  <a:lnTo>
                    <a:pt x="2595917" y="2918894"/>
                  </a:lnTo>
                  <a:lnTo>
                    <a:pt x="2560327" y="2926079"/>
                  </a:lnTo>
                  <a:lnTo>
                    <a:pt x="91432" y="2926079"/>
                  </a:lnTo>
                  <a:lnTo>
                    <a:pt x="55842" y="2918894"/>
                  </a:lnTo>
                  <a:lnTo>
                    <a:pt x="26779" y="2899299"/>
                  </a:lnTo>
                  <a:lnTo>
                    <a:pt x="7185" y="2870237"/>
                  </a:lnTo>
                  <a:lnTo>
                    <a:pt x="0" y="2834647"/>
                  </a:lnTo>
                  <a:lnTo>
                    <a:pt x="0" y="91432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0" name="object 20"/>
            <p:cNvSpPr/>
            <p:nvPr/>
          </p:nvSpPr>
          <p:spPr bwMode="auto">
            <a:xfrm>
              <a:off x="630936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 fill="norm" stroke="1" extrusionOk="0">
                  <a:moveTo>
                    <a:pt x="365759" y="731519"/>
                  </a:move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 bwMode="auto">
            <a:xfrm>
              <a:off x="6309360" y="141732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19" fill="norm" stroke="1" extrusionOk="0">
                  <a:moveTo>
                    <a:pt x="0" y="365759"/>
                  </a:moveTo>
                  <a:lnTo>
                    <a:pt x="2849" y="319879"/>
                  </a:lnTo>
                  <a:lnTo>
                    <a:pt x="11170" y="275700"/>
                  </a:lnTo>
                  <a:lnTo>
                    <a:pt x="24619" y="233564"/>
                  </a:lnTo>
                  <a:lnTo>
                    <a:pt x="42854" y="193814"/>
                  </a:lnTo>
                  <a:lnTo>
                    <a:pt x="65532" y="156793"/>
                  </a:lnTo>
                  <a:lnTo>
                    <a:pt x="92309" y="122844"/>
                  </a:lnTo>
                  <a:lnTo>
                    <a:pt x="122844" y="92309"/>
                  </a:lnTo>
                  <a:lnTo>
                    <a:pt x="156793" y="65532"/>
                  </a:lnTo>
                  <a:lnTo>
                    <a:pt x="193814" y="42854"/>
                  </a:lnTo>
                  <a:lnTo>
                    <a:pt x="233564" y="24619"/>
                  </a:lnTo>
                  <a:lnTo>
                    <a:pt x="275700" y="11170"/>
                  </a:lnTo>
                  <a:lnTo>
                    <a:pt x="319879" y="2849"/>
                  </a:lnTo>
                  <a:lnTo>
                    <a:pt x="365759" y="0"/>
                  </a:lnTo>
                  <a:lnTo>
                    <a:pt x="413836" y="3172"/>
                  </a:lnTo>
                  <a:lnTo>
                    <a:pt x="460683" y="12531"/>
                  </a:lnTo>
                  <a:lnTo>
                    <a:pt x="505730" y="27841"/>
                  </a:lnTo>
                  <a:lnTo>
                    <a:pt x="548409" y="48868"/>
                  </a:lnTo>
                  <a:lnTo>
                    <a:pt x="588152" y="75376"/>
                  </a:lnTo>
                  <a:lnTo>
                    <a:pt x="624391" y="107128"/>
                  </a:lnTo>
                  <a:lnTo>
                    <a:pt x="656143" y="143367"/>
                  </a:lnTo>
                  <a:lnTo>
                    <a:pt x="682651" y="183110"/>
                  </a:lnTo>
                  <a:lnTo>
                    <a:pt x="703678" y="225789"/>
                  </a:lnTo>
                  <a:lnTo>
                    <a:pt x="718988" y="270836"/>
                  </a:lnTo>
                  <a:lnTo>
                    <a:pt x="728347" y="317683"/>
                  </a:lnTo>
                  <a:lnTo>
                    <a:pt x="731519" y="365759"/>
                  </a:lnTo>
                  <a:lnTo>
                    <a:pt x="728670" y="411640"/>
                  </a:lnTo>
                  <a:lnTo>
                    <a:pt x="720349" y="455819"/>
                  </a:lnTo>
                  <a:lnTo>
                    <a:pt x="706900" y="497955"/>
                  </a:lnTo>
                  <a:lnTo>
                    <a:pt x="688665" y="537705"/>
                  </a:lnTo>
                  <a:lnTo>
                    <a:pt x="665987" y="574726"/>
                  </a:lnTo>
                  <a:lnTo>
                    <a:pt x="639210" y="608675"/>
                  </a:lnTo>
                  <a:lnTo>
                    <a:pt x="608675" y="639210"/>
                  </a:lnTo>
                  <a:lnTo>
                    <a:pt x="574726" y="665987"/>
                  </a:lnTo>
                  <a:lnTo>
                    <a:pt x="537705" y="688665"/>
                  </a:lnTo>
                  <a:lnTo>
                    <a:pt x="497955" y="706900"/>
                  </a:lnTo>
                  <a:lnTo>
                    <a:pt x="455819" y="720349"/>
                  </a:lnTo>
                  <a:lnTo>
                    <a:pt x="411640" y="728670"/>
                  </a:lnTo>
                  <a:lnTo>
                    <a:pt x="365759" y="731519"/>
                  </a:lnTo>
                  <a:lnTo>
                    <a:pt x="319879" y="728670"/>
                  </a:lnTo>
                  <a:lnTo>
                    <a:pt x="275700" y="720349"/>
                  </a:lnTo>
                  <a:lnTo>
                    <a:pt x="233564" y="706900"/>
                  </a:lnTo>
                  <a:lnTo>
                    <a:pt x="193814" y="688665"/>
                  </a:lnTo>
                  <a:lnTo>
                    <a:pt x="156793" y="665987"/>
                  </a:lnTo>
                  <a:lnTo>
                    <a:pt x="122844" y="639210"/>
                  </a:lnTo>
                  <a:lnTo>
                    <a:pt x="92309" y="608675"/>
                  </a:lnTo>
                  <a:lnTo>
                    <a:pt x="65532" y="574726"/>
                  </a:lnTo>
                  <a:lnTo>
                    <a:pt x="42854" y="537705"/>
                  </a:lnTo>
                  <a:lnTo>
                    <a:pt x="24619" y="497955"/>
                  </a:lnTo>
                  <a:lnTo>
                    <a:pt x="11170" y="455819"/>
                  </a:lnTo>
                  <a:lnTo>
                    <a:pt x="2849" y="411640"/>
                  </a:lnTo>
                  <a:lnTo>
                    <a:pt x="0" y="365759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2" name="object 22"/>
            <p:cNvPicPr/>
            <p:nvPr/>
          </p:nvPicPr>
          <p:blipFill rotWithShape="1">
            <a:blip r:embed="rId5"/>
            <a:stretch/>
          </p:blipFill>
          <p:spPr bwMode="auto">
            <a:xfrm>
              <a:off x="6506870" y="1614830"/>
              <a:ext cx="336498" cy="336498"/>
            </a:xfrm>
            <a:prstGeom prst="rect">
              <a:avLst/>
            </a:prstGeom>
          </p:spPr>
        </p:pic>
      </p:grpSp>
      <p:sp>
        <p:nvSpPr>
          <p:cNvPr id="1029024087" name="object 23"/>
          <p:cNvSpPr txBox="1"/>
          <p:nvPr/>
        </p:nvSpPr>
        <p:spPr bwMode="auto">
          <a:xfrm>
            <a:off x="6296660" y="2176272"/>
            <a:ext cx="224028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b="1">
                <a:solidFill>
                  <a:srgbClr val="1B2A5C"/>
                </a:solidFill>
                <a:latin typeface="Calibri"/>
                <a:cs typeface="Calibri"/>
              </a:rPr>
              <a:t>Baseline Comparison</a:t>
            </a:r>
            <a:endParaRPr sz="1800">
              <a:latin typeface="Calibri"/>
              <a:cs typeface="Calibri"/>
            </a:endParaRPr>
          </a:p>
          <a:p>
            <a:pPr marL="12700" marR="111125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Static range + 3σ Shewhart limits.</a:t>
            </a:r>
            <a:endParaRPr sz="1400">
              <a:latin typeface="Calibri"/>
              <a:cs typeface="Calibri"/>
            </a:endParaRPr>
          </a:p>
          <a:p>
            <a:pPr marL="12700" marR="111125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Mean and σ break down at 0%: one spike widens the bands and hides later faults.</a:t>
            </a:r>
            <a:endParaRPr sz="1400">
              <a:latin typeface="Calibri"/>
              <a:cs typeface="Calibri"/>
            </a:endParaRPr>
          </a:p>
          <a:p>
            <a:pPr marL="12700" marR="111125">
              <a:lnSpc>
                <a:spcPct val="100000"/>
              </a:lnSpc>
              <a:spcBef>
                <a:spcPts val="30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Same 720 h test set, 58 injected faults.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2915762" name="object 2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531412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444499" y="351027"/>
            <a:ext cx="8029451" cy="53121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Core Mathematics of Detection</a:t>
            </a:r>
            <a:endParaRPr/>
          </a:p>
        </p:txBody>
      </p:sp>
      <p:sp>
        <p:nvSpPr>
          <p:cNvPr id="2048443441" name="object 2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sp>
        <p:nvSpPr>
          <p:cNvPr id="1924003408" name="Math card 1"/>
          <p:cNvSpPr/>
          <p:nvPr/>
        </p:nvSpPr>
        <p:spPr bwMode="auto">
          <a:xfrm>
            <a:off x="448056" y="1051560"/>
            <a:ext cx="4032504" cy="1572768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057152006" name="Badge 1"/>
          <p:cNvSpPr/>
          <p:nvPr/>
        </p:nvSpPr>
        <p:spPr bwMode="auto">
          <a:xfrm>
            <a:off x="612647" y="1197863"/>
            <a:ext cx="310896" cy="310896"/>
          </a:xfrm>
          <a:prstGeom prst="ellipse">
            <a:avLst/>
          </a:prstGeom>
          <a:solidFill>
            <a:srgbClr val="A82039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341817370" name="Math title 1"/>
          <p:cNvSpPr txBox="1"/>
          <p:nvPr/>
        </p:nvSpPr>
        <p:spPr bwMode="auto">
          <a:xfrm>
            <a:off x="1014983" y="116128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B2A5C"/>
                </a:solidFill>
                <a:latin typeface="Calibri"/>
              </a:rPr>
              <a:t>Robust residual control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 Tukey · Huber · Page</a:t>
            </a:r>
            <a:endParaRPr/>
          </a:p>
        </p:txBody>
      </p:sp>
      <p:pic>
        <p:nvPicPr>
          <p:cNvPr id="142562681" name="Equation 12" descr="M_{t,i}=\frac{0.6745\,|e_{t,i}-\mathrm{med}(e_i)|}{\mathrm{MAD}_i}&gt;3.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11021" y="1527048"/>
            <a:ext cx="2343150" cy="312039"/>
          </a:xfrm>
          <a:prstGeom prst="rect">
            <a:avLst/>
          </a:prstGeom>
        </p:spPr>
      </p:pic>
      <p:pic>
        <p:nvPicPr>
          <p:cNvPr id="846714776" name="Equation 13" descr="C^{\pm}_{t}=\max(0,\ C^{\pm}_{t-1}\pm z_t-\kappa)&gt;h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05103" y="1875663"/>
            <a:ext cx="2554986" cy="231495"/>
          </a:xfrm>
          <a:prstGeom prst="rect">
            <a:avLst/>
          </a:prstGeom>
        </p:spPr>
      </p:pic>
      <p:sp>
        <p:nvSpPr>
          <p:cNvPr id="76399189" name="Math meaning 1"/>
          <p:cNvSpPr txBox="1"/>
          <p:nvPr/>
        </p:nvSpPr>
        <p:spPr bwMode="auto">
          <a:xfrm>
            <a:off x="676656" y="2377439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50% breakdown: spikes can’t hide spikes; CUSUM catches drift.</a:t>
            </a:r>
            <a:endParaRPr/>
          </a:p>
        </p:txBody>
      </p:sp>
      <p:sp>
        <p:nvSpPr>
          <p:cNvPr id="1004128830" name="Math card 2"/>
          <p:cNvSpPr/>
          <p:nvPr/>
        </p:nvSpPr>
        <p:spPr bwMode="auto">
          <a:xfrm>
            <a:off x="4654296" y="1051560"/>
            <a:ext cx="4032504" cy="1572768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58551000" name="Badge 2"/>
          <p:cNvSpPr/>
          <p:nvPr/>
        </p:nvSpPr>
        <p:spPr bwMode="auto">
          <a:xfrm>
            <a:off x="4818888" y="1197863"/>
            <a:ext cx="310896" cy="310896"/>
          </a:xfrm>
          <a:prstGeom prst="ellipse">
            <a:avLst/>
          </a:prstGeom>
          <a:solidFill>
            <a:srgbClr val="1B2A5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2108631981" name="Math title 2"/>
          <p:cNvSpPr txBox="1"/>
          <p:nvPr/>
        </p:nvSpPr>
        <p:spPr bwMode="auto">
          <a:xfrm>
            <a:off x="5221224" y="116128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B2A5C"/>
                </a:solidFill>
                <a:latin typeface="Calibri"/>
              </a:rPr>
              <a:t>Minimum Covariance Determinant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 Rousseeuw</a:t>
            </a:r>
            <a:endParaRPr/>
          </a:p>
        </p:txBody>
      </p:sp>
      <p:pic>
        <p:nvPicPr>
          <p:cNvPr id="1200048890" name="Equation 14" descr="\mathcal{H}^*=\arg\min_{|\mathcal{H}|=h}\ \det\hat{\Sigma}_{\mathcal{H}}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54433" y="1527048"/>
            <a:ext cx="1868805" cy="373761"/>
          </a:xfrm>
          <a:prstGeom prst="rect">
            <a:avLst/>
          </a:prstGeom>
        </p:spPr>
      </p:pic>
      <p:pic>
        <p:nvPicPr>
          <p:cNvPr id="1828676678" name="Equation 15" descr="D^2_{MCD}(\mathbf{e}_t)\sim\chi^2_5,\quad\mathrm{flag\ if}&gt;20.51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391073" y="1937384"/>
            <a:ext cx="2595524" cy="237896"/>
          </a:xfrm>
          <a:prstGeom prst="rect">
            <a:avLst/>
          </a:prstGeom>
        </p:spPr>
      </p:pic>
      <p:sp>
        <p:nvSpPr>
          <p:cNvPr id="48800935" name="Math meaning 2"/>
          <p:cNvSpPr txBox="1"/>
          <p:nvPr/>
        </p:nvSpPr>
        <p:spPr bwMode="auto">
          <a:xfrm>
            <a:off x="4882896" y="2377439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Catches cross-sensor faults, e.g. heavy rain reported in dry air.</a:t>
            </a:r>
            <a:endParaRPr/>
          </a:p>
        </p:txBody>
      </p:sp>
      <p:sp>
        <p:nvSpPr>
          <p:cNvPr id="2136728761" name="Math card 3"/>
          <p:cNvSpPr/>
          <p:nvPr/>
        </p:nvSpPr>
        <p:spPr bwMode="auto">
          <a:xfrm>
            <a:off x="448056" y="2743200"/>
            <a:ext cx="4032504" cy="1572768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24877128" name="Badge 3"/>
          <p:cNvSpPr/>
          <p:nvPr/>
        </p:nvSpPr>
        <p:spPr bwMode="auto">
          <a:xfrm>
            <a:off x="612647" y="2889504"/>
            <a:ext cx="310896" cy="310896"/>
          </a:xfrm>
          <a:prstGeom prst="ellipse">
            <a:avLst/>
          </a:prstGeom>
          <a:solidFill>
            <a:srgbClr val="2A7F9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29136016" name="Math title 3"/>
          <p:cNvSpPr txBox="1"/>
          <p:nvPr/>
        </p:nvSpPr>
        <p:spPr bwMode="auto">
          <a:xfrm>
            <a:off x="1014983" y="285292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B2A5C"/>
                </a:solidFill>
                <a:latin typeface="Calibri"/>
              </a:rPr>
              <a:t>Clausius–Clapeyron invariant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 Atmospheric physics</a:t>
            </a:r>
            <a:endParaRPr/>
          </a:p>
        </p:txBody>
      </p:sp>
      <p:pic>
        <p:nvPicPr>
          <p:cNvPr id="1825671771" name="Equation 16" descr="e_s(T)=6.112\,\exp\left(\frac{17.67\,T}{T+243.5}\right)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459001" y="3218688"/>
            <a:ext cx="2047189" cy="236829"/>
          </a:xfrm>
          <a:prstGeom prst="rect">
            <a:avLst/>
          </a:prstGeom>
        </p:spPr>
      </p:pic>
      <p:pic>
        <p:nvPicPr>
          <p:cNvPr id="2137193644" name="Equation 17" descr="\frac{dH}{dt}\frac{dT}{dt}=-\frac{4302.645\,H}{(T+243.5)^2}\left(\frac{dT}{dt}\right)^2&lt;0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437132" y="3492093"/>
            <a:ext cx="2090928" cy="316839"/>
          </a:xfrm>
          <a:prstGeom prst="rect">
            <a:avLst/>
          </a:prstGeom>
        </p:spPr>
      </p:pic>
      <p:sp>
        <p:nvSpPr>
          <p:cNvPr id="301649561" name="Math meaning 3"/>
          <p:cNvSpPr txBox="1"/>
          <p:nvPr/>
        </p:nvSpPr>
        <p:spPr bwMode="auto">
          <a:xfrm>
            <a:off x="676656" y="406908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Zero training data: if dry air warms, humidity must fall.</a:t>
            </a:r>
            <a:endParaRPr/>
          </a:p>
        </p:txBody>
      </p:sp>
      <p:sp>
        <p:nvSpPr>
          <p:cNvPr id="294062170" name="Math card 4"/>
          <p:cNvSpPr/>
          <p:nvPr/>
        </p:nvSpPr>
        <p:spPr bwMode="auto">
          <a:xfrm>
            <a:off x="4654296" y="2743200"/>
            <a:ext cx="4032504" cy="1572768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93194554" name="Badge 4"/>
          <p:cNvSpPr/>
          <p:nvPr/>
        </p:nvSpPr>
        <p:spPr bwMode="auto">
          <a:xfrm>
            <a:off x="4818888" y="2889504"/>
            <a:ext cx="310896" cy="310896"/>
          </a:xfrm>
          <a:prstGeom prst="ellipse">
            <a:avLst/>
          </a:prstGeom>
          <a:solidFill>
            <a:srgbClr val="6B3EA0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  <a:endParaRPr/>
          </a:p>
        </p:txBody>
      </p:sp>
      <p:sp>
        <p:nvSpPr>
          <p:cNvPr id="1344715842" name="Math title 4"/>
          <p:cNvSpPr txBox="1"/>
          <p:nvPr/>
        </p:nvSpPr>
        <p:spPr bwMode="auto">
          <a:xfrm>
            <a:off x="5221224" y="285292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B2A5C"/>
                </a:solidFill>
                <a:latin typeface="Calibri"/>
              </a:rPr>
              <a:t>Conformal test martingale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 Vovk · Ville 1939</a:t>
            </a:r>
            <a:endParaRPr/>
          </a:p>
        </p:txBody>
      </p:sp>
      <p:pic>
        <p:nvPicPr>
          <p:cNvPr id="994017522" name="Equation 18" descr="S_t=\Pi_{k\leq t}\ \kappa\,p_k^{\,\kappa-1},\quad p_k\ \mathrm{conformal\ p\!-\!value}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998491" y="3218688"/>
            <a:ext cx="3380689" cy="236829"/>
          </a:xfrm>
          <a:prstGeom prst="rect">
            <a:avLst/>
          </a:prstGeom>
        </p:spPr>
      </p:pic>
      <p:pic>
        <p:nvPicPr>
          <p:cNvPr id="165998481" name="Equation 19" descr="\mathbb{P}\left(\sup_{t\geq1}S_t\geq\frac{1}{\alpha}\right)\leq\alpha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5915025" y="3492093"/>
            <a:ext cx="1547622" cy="355473"/>
          </a:xfrm>
          <a:prstGeom prst="rect">
            <a:avLst/>
          </a:prstGeom>
        </p:spPr>
      </p:pic>
      <p:sp>
        <p:nvSpPr>
          <p:cNvPr id="1759335139" name="Math meaning 4"/>
          <p:cNvSpPr txBox="1"/>
          <p:nvPr/>
        </p:nvSpPr>
        <p:spPr bwMode="auto">
          <a:xfrm>
            <a:off x="4882896" y="406908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Distribution-free guarantee on the false-alarm rate.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763833" name="object 2" descr="$PPTXTitle"/>
          <p:cNvSpPr txBox="1">
            <a:spLocks noGrp="1"/>
          </p:cNvSpPr>
          <p:nvPr>
            <p:ph type="title"/>
          </p:nvPr>
        </p:nvSpPr>
        <p:spPr bwMode="auto">
          <a:xfrm>
            <a:ext cx="8229600" cy="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Chaos Is Not a Fault</a:t>
            </a:r>
            <a:endParaRPr/>
          </a:p>
        </p:txBody>
      </p:sp>
      <p:sp>
        <p:nvSpPr>
          <p:cNvPr id="1383311279" name="object 2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sp>
        <p:nvSpPr>
          <p:cNvPr id="1112171552" name="Attractor card"/>
          <p:cNvSpPr/>
          <p:nvPr/>
        </p:nvSpPr>
        <p:spPr bwMode="auto">
          <a:xfrm>
            <a:off x="448056" y="1051560"/>
            <a:ext cx="55778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pic>
        <p:nvPicPr>
          <p:cNvPr id="310644622" name="Delay-embedded phase portraits" descr="Three delay-embedded phase portraits: a smooth double-scroll attractor for nominal storm chaos, the same attractor with trajectories ejected to isolated points for a transient ADC spike, and a single collapsed point for a mechanical flatline."/>
          <p:cNvPicPr>
            <a:picLocks noChangeAspect="1"/>
          </p:cNvPicPr>
          <p:nvPr/>
        </p:nvPicPr>
        <p:blipFill rotWithShape="1">
          <a:blip r:embed="rId3"/>
          <a:srcRect l="0" t="17000" r="0" b="17000"/>
          <a:stretch/>
        </p:blipFill>
        <p:spPr bwMode="auto">
          <a:xfrm>
            <a:off x="502920" y="1097280"/>
            <a:ext cx="5468112" cy="2014299"/>
          </a:xfrm>
          <a:prstGeom prst="rect">
            <a:avLst/>
          </a:prstGeom>
        </p:spPr>
      </p:pic>
      <p:sp>
        <p:nvSpPr>
          <p:cNvPr id="1984460355" name="Verdict 1"/>
          <p:cNvSpPr/>
          <p:nvPr/>
        </p:nvSpPr>
        <p:spPr bwMode="auto">
          <a:xfrm>
            <a:off x="566928" y="3364992"/>
            <a:ext cx="1719072" cy="896112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>
            <a:noFill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885987900" name="Verdict label 1"/>
          <p:cNvSpPr txBox="1"/>
          <p:nvPr/>
        </p:nvSpPr>
        <p:spPr bwMode="auto">
          <a:xfrm>
            <a:off x="676656" y="34290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2A7F9E"/>
                </a:solidFill>
                <a:latin typeface="Calibri"/>
              </a:rPr>
              <a:t>KEEP · real weather</a:t>
            </a:r>
            <a:endParaRPr/>
          </a:p>
        </p:txBody>
      </p:sp>
      <p:pic>
        <p:nvPicPr>
          <p:cNvPr id="1988100369" name="Equation 20" descr="0&lt;\lambda_{\max}&lt;\infty,\ E_2\neq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6656" y="3730752"/>
            <a:ext cx="1517904" cy="175216"/>
          </a:xfrm>
          <a:prstGeom prst="rect">
            <a:avLst/>
          </a:prstGeom>
        </p:spPr>
      </p:pic>
      <p:sp>
        <p:nvSpPr>
          <p:cNvPr id="5253189" name="Verdict 2"/>
          <p:cNvSpPr/>
          <p:nvPr/>
        </p:nvSpPr>
        <p:spPr bwMode="auto">
          <a:xfrm>
            <a:off x="2368296" y="3364992"/>
            <a:ext cx="1719072" cy="896112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>
            <a:noFill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617309974" name="Verdict label 2"/>
          <p:cNvSpPr txBox="1"/>
          <p:nvPr/>
        </p:nvSpPr>
        <p:spPr bwMode="auto">
          <a:xfrm>
            <a:off x="2478024" y="34290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A82039"/>
                </a:solidFill>
                <a:latin typeface="Calibri"/>
              </a:rPr>
              <a:t>FLAG · spike</a:t>
            </a:r>
            <a:endParaRPr/>
          </a:p>
        </p:txBody>
      </p:sp>
      <p:pic>
        <p:nvPicPr>
          <p:cNvPr id="1198390284" name="Equation 21" descr="\lambda_{\max}\to\infty,\ E_2\to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478024" y="3730752"/>
            <a:ext cx="1337310" cy="175260"/>
          </a:xfrm>
          <a:prstGeom prst="rect">
            <a:avLst/>
          </a:prstGeom>
        </p:spPr>
      </p:pic>
      <p:sp>
        <p:nvSpPr>
          <p:cNvPr id="765108668" name="Verdict 3"/>
          <p:cNvSpPr/>
          <p:nvPr/>
        </p:nvSpPr>
        <p:spPr bwMode="auto">
          <a:xfrm>
            <a:off x="4169663" y="3364992"/>
            <a:ext cx="1719072" cy="896112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>
            <a:noFill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408391662" name="Verdict label 3"/>
          <p:cNvSpPr txBox="1"/>
          <p:nvPr/>
        </p:nvSpPr>
        <p:spPr bwMode="auto">
          <a:xfrm>
            <a:off x="4279392" y="34290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7A317"/>
                </a:solidFill>
                <a:latin typeface="Calibri"/>
              </a:rPr>
              <a:t>FLAG · flatline</a:t>
            </a:r>
            <a:endParaRPr/>
          </a:p>
        </p:txBody>
      </p:sp>
      <p:pic>
        <p:nvPicPr>
          <p:cNvPr id="622857790" name="Equation 22" descr="\lambda_{\max}&lt;0,\ s^2=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279392" y="3730752"/>
            <a:ext cx="1162050" cy="195262"/>
          </a:xfrm>
          <a:prstGeom prst="rect">
            <a:avLst/>
          </a:prstGeom>
        </p:spPr>
      </p:pic>
      <p:sp>
        <p:nvSpPr>
          <p:cNvPr id="284000534" name="Takens card"/>
          <p:cNvSpPr/>
          <p:nvPr/>
        </p:nvSpPr>
        <p:spPr bwMode="auto">
          <a:xfrm>
            <a:off x="6172200" y="1051560"/>
            <a:ext cx="2523744" cy="333756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503874260" name="Takens title"/>
          <p:cNvSpPr txBox="1"/>
          <p:nvPr/>
        </p:nvSpPr>
        <p:spPr bwMode="auto">
          <a:xfrm>
            <a:off x="6327648" y="11430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B2A5C"/>
                </a:solidFill>
                <a:latin typeface="Calibri"/>
              </a:rPr>
              <a:t>Takens embedding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1981</a:t>
            </a:r>
            <a:endParaRPr/>
          </a:p>
        </p:txBody>
      </p:sp>
      <p:pic>
        <p:nvPicPr>
          <p:cNvPr id="253191980" name="Equation 23" descr="\mathbf{v}_t=[x(t),\ x(t-\tau),\ \ldots,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327648" y="1444752"/>
            <a:ext cx="1677352" cy="177165"/>
          </a:xfrm>
          <a:prstGeom prst="rect">
            <a:avLst/>
          </a:prstGeom>
        </p:spPr>
      </p:pic>
      <p:pic>
        <p:nvPicPr>
          <p:cNvPr id="791249965" name="Equation 24" descr="\qquad x(t-(m-1)\tau)]^{\top}\in\mathbb{R}^{m}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327648" y="1700784"/>
            <a:ext cx="1991677" cy="197167"/>
          </a:xfrm>
          <a:prstGeom prst="rect">
            <a:avLst/>
          </a:prstGeom>
        </p:spPr>
      </p:pic>
      <p:sp>
        <p:nvSpPr>
          <p:cNvPr id="1997645911" name="Takens note"/>
          <p:cNvSpPr txBox="1"/>
          <p:nvPr/>
        </p:nvSpPr>
        <p:spPr bwMode="auto">
          <a:xfrm>
            <a:off x="6327648" y="198424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5B6478"/>
                </a:solidFill>
                <a:latin typeface="Calibri"/>
              </a:rPr>
              <a:t>Rebuilds the hidden weather attractor from one sensor if m ≥ 2d + 1.</a:t>
            </a:r>
            <a:endParaRPr/>
          </a:p>
        </p:txBody>
      </p:sp>
      <p:sp>
        <p:nvSpPr>
          <p:cNvPr id="1028699426" name="Lyapunov title"/>
          <p:cNvSpPr txBox="1"/>
          <p:nvPr/>
        </p:nvSpPr>
        <p:spPr bwMode="auto">
          <a:xfrm>
            <a:off x="6327648" y="240487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B2A5C"/>
                </a:solidFill>
                <a:latin typeface="Calibri"/>
              </a:rPr>
              <a:t>Lyapunov exponent</a:t>
            </a:r>
            <a:endParaRPr/>
          </a:p>
        </p:txBody>
      </p:sp>
      <p:pic>
        <p:nvPicPr>
          <p:cNvPr id="236646428" name="Equation 25" descr="\lambda_{\max}=\lim_{t\to\infty}\frac{1}{t}\ln\frac{\Vert\delta\mathbf{v}_t\Vert}{\Vert\delta\mathbf{v}_0\Vert}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327648" y="2697480"/>
            <a:ext cx="1396746" cy="295198"/>
          </a:xfrm>
          <a:prstGeom prst="rect">
            <a:avLst/>
          </a:prstGeom>
        </p:spPr>
      </p:pic>
      <p:sp>
        <p:nvSpPr>
          <p:cNvPr id="1983617613" name="Cao title"/>
          <p:cNvSpPr txBox="1"/>
          <p:nvPr/>
        </p:nvSpPr>
        <p:spPr bwMode="auto">
          <a:xfrm>
            <a:off x="6327648" y="32461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B2A5C"/>
                </a:solidFill>
                <a:latin typeface="Calibri"/>
              </a:rPr>
              <a:t>Cao’s test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noise or chaos?</a:t>
            </a:r>
            <a:endParaRPr/>
          </a:p>
        </p:txBody>
      </p:sp>
      <p:pic>
        <p:nvPicPr>
          <p:cNvPr id="1896166368" name="Equation 26" descr="E_2(m)\equiv1\Rightarrow\mathrm{stochastic\ noise}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327648" y="3547872"/>
            <a:ext cx="1946757" cy="170078"/>
          </a:xfrm>
          <a:prstGeom prst="rect">
            <a:avLst/>
          </a:prstGeom>
        </p:spPr>
      </p:pic>
      <p:pic>
        <p:nvPicPr>
          <p:cNvPr id="1593183418" name="Equation 27" descr="E_2(m)\neq1\Rightarrow\mathrm{deterministic\ chaos}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6327648" y="3840480"/>
            <a:ext cx="2178100" cy="170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65326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444499" y="351027"/>
            <a:ext cx="8438133" cy="53121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Satellite Oracle: ISRO + NASA</a:t>
            </a:r>
            <a:endParaRPr/>
          </a:p>
        </p:txBody>
      </p:sp>
      <p:sp>
        <p:nvSpPr>
          <p:cNvPr id="643827241" name="object 24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sp>
        <p:nvSpPr>
          <p:cNvPr id="1204226979" name="ISRO card"/>
          <p:cNvSpPr/>
          <p:nvPr/>
        </p:nvSpPr>
        <p:spPr bwMode="auto">
          <a:xfrm>
            <a:off x="448056" y="1051560"/>
            <a:ext cx="3931920" cy="260604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684811377" name="ISRO title"/>
          <p:cNvSpPr txBox="1"/>
          <p:nvPr/>
        </p:nvSpPr>
        <p:spPr bwMode="auto">
          <a:xfrm>
            <a:off x="612648" y="11430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B2A5C"/>
                </a:solidFill>
                <a:latin typeface="Calibri"/>
              </a:rPr>
              <a:t>How we apply math to ISRO data</a:t>
            </a:r>
            <a:endParaRPr/>
          </a:p>
        </p:txBody>
      </p:sp>
      <p:sp>
        <p:nvSpPr>
          <p:cNvPr id="1381015243" name="ISRO sensors"/>
          <p:cNvSpPr txBox="1"/>
          <p:nvPr/>
        </p:nvSpPr>
        <p:spPr bwMode="auto">
          <a:xfrm>
            <a:off x="612648" y="141732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5B6478"/>
                </a:solidFill>
                <a:latin typeface="Calibri"/>
              </a:rPr>
              <a:t>INSAT-3DR/3DS Imager · TIR-1 10.7 µm · WV 6.7 µm · 4×4 km pixels · 15-min scans (MOSDAC 3DIMG_L2B_HEM) + NASA/JAXA GPM IMERG microwave rain</a:t>
            </a:r>
            <a:endParaRPr/>
          </a:p>
        </p:txBody>
      </p:sp>
      <p:pic>
        <p:nvPicPr>
          <p:cNvPr id="1369820258" name="Equation 28" descr="Z=\frac{T_{mean}-T_b}{\sigma_{T_b}},\qquad R_{HE}=\frac{R_c Z^2+R_n(1.5-Z)^2}{Z^2+(1.5-Z)^2}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2630" y="1965960"/>
            <a:ext cx="2971914" cy="323011"/>
          </a:xfrm>
          <a:prstGeom prst="rect">
            <a:avLst/>
          </a:prstGeom>
        </p:spPr>
      </p:pic>
      <p:sp>
        <p:nvSpPr>
          <p:cNvPr id="1162407902" name="Badge 1"/>
          <p:cNvSpPr/>
          <p:nvPr/>
        </p:nvSpPr>
        <p:spPr bwMode="auto">
          <a:xfrm>
            <a:off x="612648" y="2633472"/>
            <a:ext cx="237744" cy="237744"/>
          </a:xfrm>
          <a:prstGeom prst="ellipse">
            <a:avLst/>
          </a:prstGeom>
          <a:solidFill>
            <a:srgbClr val="1B2A5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1704657933" name="ISRO step 1"/>
          <p:cNvSpPr txBox="1"/>
          <p:nvPr/>
        </p:nvSpPr>
        <p:spPr bwMode="auto">
          <a:xfrm>
            <a:off x="941832" y="2615184"/>
            <a:ext cx="33375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F36"/>
                </a:solidFill>
                <a:latin typeface="Calibri"/>
              </a:rPr>
              <a:t>Align 15-min staggered scan blocks to the AWS clock (equinox scan-lag corrected)</a:t>
            </a:r>
            <a:endParaRPr/>
          </a:p>
        </p:txBody>
      </p:sp>
      <p:sp>
        <p:nvSpPr>
          <p:cNvPr id="1719345778" name="Badge 2"/>
          <p:cNvSpPr/>
          <p:nvPr/>
        </p:nvSpPr>
        <p:spPr bwMode="auto">
          <a:xfrm>
            <a:off x="612648" y="2971800"/>
            <a:ext cx="237744" cy="237744"/>
          </a:xfrm>
          <a:prstGeom prst="ellipse">
            <a:avLst/>
          </a:prstGeom>
          <a:solidFill>
            <a:srgbClr val="2A7F9E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1791594509" name="ISRO step 2"/>
          <p:cNvSpPr txBox="1"/>
          <p:nvPr/>
        </p:nvSpPr>
        <p:spPr bwMode="auto">
          <a:xfrm>
            <a:off x="941832" y="2953512"/>
            <a:ext cx="33375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F36"/>
                </a:solidFill>
                <a:latin typeface="Calibri"/>
              </a:rPr>
              <a:t>Pixel → point with elevation-covariate block-to-point co-kriging</a:t>
            </a:r>
            <a:endParaRPr/>
          </a:p>
        </p:txBody>
      </p:sp>
      <p:sp>
        <p:nvSpPr>
          <p:cNvPr id="1634393057" name="Badge 3"/>
          <p:cNvSpPr/>
          <p:nvPr/>
        </p:nvSpPr>
        <p:spPr bwMode="auto">
          <a:xfrm>
            <a:off x="612648" y="3310127"/>
            <a:ext cx="237744" cy="237744"/>
          </a:xfrm>
          <a:prstGeom prst="ellipse">
            <a:avLst/>
          </a:prstGeom>
          <a:solidFill>
            <a:srgbClr val="6B3EA0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  <a:endParaRPr/>
          </a:p>
        </p:txBody>
      </p:sp>
      <p:sp>
        <p:nvSpPr>
          <p:cNvPr id="48070137" name="ISRO step 3"/>
          <p:cNvSpPr txBox="1"/>
          <p:nvPr/>
        </p:nvSpPr>
        <p:spPr bwMode="auto">
          <a:xfrm>
            <a:off x="941832" y="3291839"/>
            <a:ext cx="333756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F36"/>
                </a:solidFill>
                <a:latin typeface="Calibri"/>
              </a:rPr>
              <a:t>Fuse ground + 2 satellites with Dempster–Shafer belief</a:t>
            </a:r>
            <a:endParaRPr/>
          </a:p>
        </p:txBody>
      </p:sp>
      <p:sp>
        <p:nvSpPr>
          <p:cNvPr id="999174464" name="DS card"/>
          <p:cNvSpPr/>
          <p:nvPr/>
        </p:nvSpPr>
        <p:spPr bwMode="auto">
          <a:xfrm>
            <a:off x="4526280" y="1051560"/>
            <a:ext cx="4169663" cy="260604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78278263" name="DS title"/>
          <p:cNvSpPr txBox="1"/>
          <p:nvPr/>
        </p:nvSpPr>
        <p:spPr bwMode="auto">
          <a:xfrm>
            <a:off x="4681728" y="114300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1B2A5C"/>
                </a:solidFill>
                <a:latin typeface="Calibri"/>
              </a:rPr>
              <a:t>Is the rain gauge clogged?</a:t>
            </a:r>
            <a:r>
              <a:rPr sz="1000" b="0" i="0">
                <a:solidFill>
                  <a:srgbClr val="5B6478"/>
                </a:solidFill>
                <a:latin typeface="Calibri"/>
              </a:rPr>
              <a:t>  Dempster–Shafer</a:t>
            </a:r>
            <a:endParaRPr/>
          </a:p>
        </p:txBody>
      </p:sp>
      <p:sp>
        <p:nvSpPr>
          <p:cNvPr id="152498576" name="DS scenario"/>
          <p:cNvSpPr txBox="1"/>
          <p:nvPr/>
        </p:nvSpPr>
        <p:spPr bwMode="auto">
          <a:xfrm>
            <a:off x="4681728" y="141732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5B6478"/>
                </a:solidFill>
                <a:latin typeface="Calibri"/>
              </a:rPr>
              <a:t>Gauge 0 mm · cloud top 215 K · H-E 34 mm/hr · IMERG 28.5 mm/hr · ΔT −4.8 °C</a:t>
            </a:r>
            <a:endParaRPr/>
          </a:p>
        </p:txBody>
      </p:sp>
      <p:graphicFrame>
        <p:nvGraphicFramePr>
          <p:cNvPr id="880976297" name="Belief mass chart"/>
          <p:cNvGraphicFramePr>
            <a:graphicFrameLocks xmlns:a="http://schemas.openxmlformats.org/drawingml/2006/main" noGrp="1"/>
          </p:cNvGraphicFramePr>
          <p:nvPr/>
        </p:nvGraphicFramePr>
        <p:xfrm rot="0">
          <a:off x="4526280" y="1609344"/>
          <a:ext cx="4224779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52170968" name="Equation 29" descr="m_{1\oplus2}(A)=\frac{\sum_{B\cap C=A}m_1(B)\,m_2(C)}{1-K_{12}},\quad K_{12}=0.0265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203393" y="2990088"/>
            <a:ext cx="2842869" cy="359359"/>
          </a:xfrm>
          <a:prstGeom prst="rect">
            <a:avLst/>
          </a:prstGeom>
        </p:spPr>
      </p:pic>
      <p:sp>
        <p:nvSpPr>
          <p:cNvPr id="438877254" name="DS verdict"/>
          <p:cNvSpPr txBox="1"/>
          <p:nvPr/>
        </p:nvSpPr>
        <p:spPr bwMode="auto">
          <a:xfrm>
            <a:off x="4681728" y="334670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50" b="1" i="0">
                <a:solidFill>
                  <a:srgbClr val="A82039"/>
                </a:solidFill>
                <a:latin typeface="Calibri"/>
              </a:rPr>
              <a:t>Bel(stuck) = 0.916 &gt; 0.90</a:t>
            </a:r>
            <a:r>
              <a:rPr sz="1050" b="0" i="0">
                <a:solidFill>
                  <a:srgbClr val="1A1F36"/>
                </a:solidFill>
                <a:latin typeface="Calibri"/>
              </a:rPr>
              <a:t>   Pl = 0.999  →  RAIN_GAUGE_CLOGGED</a:t>
            </a:r>
            <a:endParaRPr/>
          </a:p>
        </p:txBody>
      </p:sp>
      <p:sp>
        <p:nvSpPr>
          <p:cNvPr id="476163884" name="Protection strip"/>
          <p:cNvSpPr/>
          <p:nvPr/>
        </p:nvSpPr>
        <p:spPr bwMode="auto">
          <a:xfrm>
            <a:off x="448056" y="3776472"/>
            <a:ext cx="8247888" cy="612648"/>
          </a:xfrm>
          <a:prstGeom prst="roundRect">
            <a:avLst>
              <a:gd name="adj" fmla="val 6000"/>
            </a:avLst>
          </a:prstGeom>
          <a:solidFill>
            <a:srgbClr val="1B2A5C"/>
          </a:solidFill>
          <a:ln>
            <a:noFill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852703564" name="Protection label"/>
          <p:cNvSpPr txBox="1"/>
          <p:nvPr/>
        </p:nvSpPr>
        <p:spPr bwMode="auto">
          <a:xfrm>
            <a:off x="612648" y="3840480"/>
            <a:ext cx="1463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E7A317"/>
                </a:solidFill>
                <a:latin typeface="Calibri"/>
              </a:rPr>
              <a:t>CLOUDBURST</a:t>
            </a:r>
            <a:endParaRPr/>
          </a:p>
          <a:p>
            <a:pPr algn="l">
              <a:spcBef>
                <a:spcPts val="0"/>
              </a:spcBef>
              <a:defRPr/>
            </a:pPr>
            <a:r>
              <a:rPr sz="1000" b="1" i="0">
                <a:solidFill>
                  <a:srgbClr val="E7A317"/>
                </a:solidFill>
                <a:latin typeface="Calibri"/>
              </a:rPr>
              <a:t>PROTECTION</a:t>
            </a:r>
            <a:endParaRPr/>
          </a:p>
        </p:txBody>
      </p:sp>
      <p:pic>
        <p:nvPicPr>
          <p:cNvPr id="932911679" name="Equation 30" descr="\mathcal{C}_{storm}\Leftrightarrow(R_t\leq x^{GPD}_{200yr})\wedge(\Phi_{phys}(\mathbf{x}_t)=0)\wedge(CTT_t&lt;235\,K\ \vee\ R_{HE,t}&gt;5\,mm/hr)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2180310" y="3904487"/>
            <a:ext cx="6017818" cy="264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37947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Data</a:t>
            </a:r>
            <a:r>
              <a:rPr spc="-95"/>
              <a:t> </a:t>
            </a:r>
            <a:r>
              <a:rPr spc="-10"/>
              <a:t>Strategy</a:t>
            </a:r>
            <a:endParaRPr/>
          </a:p>
        </p:txBody>
      </p:sp>
      <p:grpSp>
        <p:nvGrpSpPr>
          <p:cNvPr id="1995796601" name="object 3"/>
          <p:cNvGrpSpPr/>
          <p:nvPr/>
        </p:nvGrpSpPr>
        <p:grpSpPr bwMode="auto">
          <a:xfrm>
            <a:off x="450850" y="1182369"/>
            <a:ext cx="1841500" cy="1750060"/>
            <a:chOff x="450850" y="1182369"/>
            <a:chExt cx="1841500" cy="175006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640079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640079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08516929" name="object 8"/>
          <p:cNvSpPr txBox="1"/>
          <p:nvPr/>
        </p:nvSpPr>
        <p:spPr bwMode="auto">
          <a:xfrm>
            <a:off x="804498" y="1457452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58963492" name="object 9"/>
          <p:cNvSpPr txBox="1"/>
          <p:nvPr/>
        </p:nvSpPr>
        <p:spPr bwMode="auto">
          <a:xfrm>
            <a:off x="627380" y="1835984"/>
            <a:ext cx="160020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Data Sources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ERA5 (Open-Meteo), KSNDMC/IMD, INSAT-3DR, GPM IMERG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22220149" name="object 10"/>
          <p:cNvGrpSpPr/>
          <p:nvPr/>
        </p:nvGrpSpPr>
        <p:grpSpPr bwMode="auto">
          <a:xfrm>
            <a:off x="2316226" y="1182369"/>
            <a:ext cx="2109470" cy="1750060"/>
            <a:chOff x="2316226" y="1182369"/>
            <a:chExt cx="2109470" cy="1750060"/>
          </a:xfrm>
        </p:grpSpPr>
        <p:sp>
          <p:nvSpPr>
            <p:cNvPr id="11" name="object 11"/>
            <p:cNvSpPr/>
            <p:nvPr/>
          </p:nvSpPr>
          <p:spPr bwMode="auto">
            <a:xfrm>
              <a:off x="2322576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2322576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259049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259049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277337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" name="object 16"/>
            <p:cNvSpPr/>
            <p:nvPr/>
          </p:nvSpPr>
          <p:spPr bwMode="auto">
            <a:xfrm>
              <a:off x="277337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3136610" name="object 17"/>
          <p:cNvSpPr txBox="1"/>
          <p:nvPr/>
        </p:nvSpPr>
        <p:spPr bwMode="auto">
          <a:xfrm>
            <a:off x="2937792" y="1457452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48610520" name="object 18"/>
          <p:cNvSpPr txBox="1"/>
          <p:nvPr/>
        </p:nvSpPr>
        <p:spPr bwMode="auto">
          <a:xfrm>
            <a:off x="2760675" y="1835984"/>
            <a:ext cx="160020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Preprocessing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Align to a strict 15-min grid; remove trend and 24 h cycle → residual eₜ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71001271" name="object 19"/>
          <p:cNvGrpSpPr/>
          <p:nvPr/>
        </p:nvGrpSpPr>
        <p:grpSpPr bwMode="auto">
          <a:xfrm>
            <a:off x="4449521" y="1182369"/>
            <a:ext cx="2109470" cy="1750060"/>
            <a:chOff x="4449521" y="1182369"/>
            <a:chExt cx="2109470" cy="1750060"/>
          </a:xfrm>
        </p:grpSpPr>
        <p:sp>
          <p:nvSpPr>
            <p:cNvPr id="20" name="object 20"/>
            <p:cNvSpPr/>
            <p:nvPr/>
          </p:nvSpPr>
          <p:spPr bwMode="auto">
            <a:xfrm>
              <a:off x="4455871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 bwMode="auto">
            <a:xfrm>
              <a:off x="4455871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2" name="object 22"/>
            <p:cNvSpPr/>
            <p:nvPr/>
          </p:nvSpPr>
          <p:spPr bwMode="auto">
            <a:xfrm>
              <a:off x="472379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 bwMode="auto">
            <a:xfrm>
              <a:off x="4723790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5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5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4" name="object 24"/>
            <p:cNvSpPr/>
            <p:nvPr/>
          </p:nvSpPr>
          <p:spPr bwMode="auto">
            <a:xfrm>
              <a:off x="4906670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5" name="object 25"/>
            <p:cNvSpPr/>
            <p:nvPr/>
          </p:nvSpPr>
          <p:spPr bwMode="auto">
            <a:xfrm>
              <a:off x="4906670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5" y="4433"/>
                  </a:lnTo>
                  <a:lnTo>
                    <a:pt x="316081" y="17401"/>
                  </a:lnTo>
                  <a:lnTo>
                    <a:pt x="355427" y="38407"/>
                  </a:lnTo>
                  <a:lnTo>
                    <a:pt x="390244" y="66955"/>
                  </a:lnTo>
                  <a:lnTo>
                    <a:pt x="418792" y="101772"/>
                  </a:lnTo>
                  <a:lnTo>
                    <a:pt x="439798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84523594" name="object 26"/>
          <p:cNvSpPr txBox="1"/>
          <p:nvPr/>
        </p:nvSpPr>
        <p:spPr bwMode="auto">
          <a:xfrm>
            <a:off x="5071088" y="1457452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75652914" name="object 27"/>
          <p:cNvSpPr txBox="1"/>
          <p:nvPr/>
        </p:nvSpPr>
        <p:spPr bwMode="auto">
          <a:xfrm>
            <a:off x="4893970" y="1835984"/>
            <a:ext cx="160020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Missing Data</a:t>
            </a:r>
            <a:endParaRPr sz="1600">
              <a:latin typeface="Calibri"/>
              <a:cs typeface="Calibri"/>
            </a:endParaRPr>
          </a:p>
          <a:p>
            <a:pPr marL="12700" marR="31115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Gap ≤ 3 h: interpolate the residual, add the cycle back. &gt; 3 h: COMM_LOSS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0718099" name="object 28"/>
          <p:cNvGrpSpPr/>
          <p:nvPr/>
        </p:nvGrpSpPr>
        <p:grpSpPr bwMode="auto">
          <a:xfrm>
            <a:off x="6582815" y="1182369"/>
            <a:ext cx="2109470" cy="1750060"/>
            <a:chOff x="6582815" y="1182369"/>
            <a:chExt cx="2109470" cy="1750060"/>
          </a:xfrm>
        </p:grpSpPr>
        <p:sp>
          <p:nvSpPr>
            <p:cNvPr id="29" name="object 29"/>
            <p:cNvSpPr/>
            <p:nvPr/>
          </p:nvSpPr>
          <p:spPr bwMode="auto">
            <a:xfrm>
              <a:off x="6589165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0" name="object 30"/>
            <p:cNvSpPr/>
            <p:nvPr/>
          </p:nvSpPr>
          <p:spPr bwMode="auto">
            <a:xfrm>
              <a:off x="6589165" y="192023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1" name="object 31"/>
            <p:cNvSpPr/>
            <p:nvPr/>
          </p:nvSpPr>
          <p:spPr bwMode="auto">
            <a:xfrm>
              <a:off x="685708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1737362" y="1737359"/>
                  </a:moveTo>
                  <a:lnTo>
                    <a:pt x="91437" y="1737359"/>
                  </a:lnTo>
                  <a:lnTo>
                    <a:pt x="55846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lnTo>
                    <a:pt x="7185" y="55845"/>
                  </a:lnTo>
                  <a:lnTo>
                    <a:pt x="26781" y="26781"/>
                  </a:lnTo>
                  <a:lnTo>
                    <a:pt x="55846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2" name="object 32"/>
            <p:cNvSpPr/>
            <p:nvPr/>
          </p:nvSpPr>
          <p:spPr bwMode="auto">
            <a:xfrm>
              <a:off x="6857085" y="1188719"/>
              <a:ext cx="1828800" cy="1737360"/>
            </a:xfrm>
            <a:custGeom>
              <a:avLst/>
              <a:gdLst/>
              <a:ahLst/>
              <a:cxnLst/>
              <a:rect l="l" t="t" r="r" b="b"/>
              <a:pathLst>
                <a:path w="1828800" h="1737360" fill="norm" stroke="1" extrusionOk="0">
                  <a:moveTo>
                    <a:pt x="0" y="91437"/>
                  </a:moveTo>
                  <a:lnTo>
                    <a:pt x="7185" y="55845"/>
                  </a:lnTo>
                  <a:lnTo>
                    <a:pt x="26781" y="26781"/>
                  </a:lnTo>
                  <a:lnTo>
                    <a:pt x="55846" y="7185"/>
                  </a:lnTo>
                  <a:lnTo>
                    <a:pt x="91437" y="0"/>
                  </a:lnTo>
                  <a:lnTo>
                    <a:pt x="1737362" y="0"/>
                  </a:lnTo>
                  <a:lnTo>
                    <a:pt x="1788092" y="15362"/>
                  </a:lnTo>
                  <a:lnTo>
                    <a:pt x="1821839" y="56445"/>
                  </a:lnTo>
                  <a:lnTo>
                    <a:pt x="1828799" y="91437"/>
                  </a:lnTo>
                  <a:lnTo>
                    <a:pt x="1828799" y="1645922"/>
                  </a:lnTo>
                  <a:lnTo>
                    <a:pt x="1821614" y="1681514"/>
                  </a:lnTo>
                  <a:lnTo>
                    <a:pt x="1802018" y="1710578"/>
                  </a:lnTo>
                  <a:lnTo>
                    <a:pt x="1772954" y="1730174"/>
                  </a:lnTo>
                  <a:lnTo>
                    <a:pt x="1737362" y="1737359"/>
                  </a:lnTo>
                  <a:lnTo>
                    <a:pt x="91437" y="1737359"/>
                  </a:lnTo>
                  <a:lnTo>
                    <a:pt x="55846" y="1730174"/>
                  </a:lnTo>
                  <a:lnTo>
                    <a:pt x="26781" y="1710578"/>
                  </a:lnTo>
                  <a:lnTo>
                    <a:pt x="7185" y="1681514"/>
                  </a:lnTo>
                  <a:lnTo>
                    <a:pt x="0" y="1645922"/>
                  </a:lnTo>
                  <a:lnTo>
                    <a:pt x="0" y="91437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3" name="object 33"/>
            <p:cNvSpPr/>
            <p:nvPr/>
          </p:nvSpPr>
          <p:spPr bwMode="auto">
            <a:xfrm>
              <a:off x="703996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228599" y="457199"/>
                  </a:move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6" y="4433"/>
                  </a:lnTo>
                  <a:lnTo>
                    <a:pt x="316081" y="17401"/>
                  </a:lnTo>
                  <a:lnTo>
                    <a:pt x="355428" y="38407"/>
                  </a:lnTo>
                  <a:lnTo>
                    <a:pt x="390245" y="66955"/>
                  </a:lnTo>
                  <a:lnTo>
                    <a:pt x="418793" y="101772"/>
                  </a:lnTo>
                  <a:lnTo>
                    <a:pt x="439799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4" name="object 34"/>
            <p:cNvSpPr/>
            <p:nvPr/>
          </p:nvSpPr>
          <p:spPr bwMode="auto">
            <a:xfrm>
              <a:off x="7039965" y="13715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fill="norm" stroke="1" extrusionOk="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3406" y="4433"/>
                  </a:lnTo>
                  <a:lnTo>
                    <a:pt x="316081" y="17401"/>
                  </a:lnTo>
                  <a:lnTo>
                    <a:pt x="355428" y="38407"/>
                  </a:lnTo>
                  <a:lnTo>
                    <a:pt x="390245" y="66955"/>
                  </a:lnTo>
                  <a:lnTo>
                    <a:pt x="418793" y="101772"/>
                  </a:lnTo>
                  <a:lnTo>
                    <a:pt x="439799" y="141118"/>
                  </a:lnTo>
                  <a:lnTo>
                    <a:pt x="452766" y="183794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4431234" name="object 35"/>
          <p:cNvSpPr txBox="1"/>
          <p:nvPr/>
        </p:nvSpPr>
        <p:spPr bwMode="auto">
          <a:xfrm>
            <a:off x="7204384" y="1457452"/>
            <a:ext cx="1289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50918254" name="object 36"/>
          <p:cNvSpPr txBox="1"/>
          <p:nvPr/>
        </p:nvSpPr>
        <p:spPr bwMode="auto">
          <a:xfrm>
            <a:off x="7027266" y="1835984"/>
            <a:ext cx="160020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Dataset Split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Chronological, never shuffled: no future data leaks into the past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7223005" name="object 37"/>
          <p:cNvSpPr txBox="1"/>
          <p:nvPr/>
        </p:nvSpPr>
        <p:spPr bwMode="auto">
          <a:xfrm>
            <a:off x="444500" y="3225292"/>
            <a:ext cx="73152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Chronological split · N = 720 h with 58 injected faults + 1 real storm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55927838" name="object 38"/>
          <p:cNvSpPr txBox="1"/>
          <p:nvPr/>
        </p:nvSpPr>
        <p:spPr bwMode="auto">
          <a:xfrm>
            <a:off x="457200" y="3657600"/>
            <a:ext cx="4946904" cy="548640"/>
          </a:xfrm>
          <a:prstGeom prst="rect">
            <a:avLst/>
          </a:prstGeom>
          <a:solidFill>
            <a:srgbClr val="1B2A5C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  <a:defRPr/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</a:rPr>
              <a:t>Calibrate 60% · diurnal profile, MAD, Σ̂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5029016" name="object 39"/>
          <p:cNvGrpSpPr/>
          <p:nvPr/>
        </p:nvGrpSpPr>
        <p:grpSpPr bwMode="auto">
          <a:xfrm>
            <a:off x="5404104" y="3648074"/>
            <a:ext cx="1645920" cy="567690"/>
            <a:chOff x="6208395" y="3648074"/>
            <a:chExt cx="1253490" cy="567690"/>
          </a:xfrm>
        </p:grpSpPr>
        <p:sp>
          <p:nvSpPr>
            <p:cNvPr id="40" name="object 40"/>
            <p:cNvSpPr/>
            <p:nvPr/>
          </p:nvSpPr>
          <p:spPr bwMode="auto">
            <a:xfrm>
              <a:off x="6217920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 fill="norm" stroke="1" extrusionOk="0">
                  <a:moveTo>
                    <a:pt x="1234439" y="548639"/>
                  </a:moveTo>
                  <a:lnTo>
                    <a:pt x="0" y="548639"/>
                  </a:lnTo>
                  <a:lnTo>
                    <a:pt x="0" y="0"/>
                  </a:lnTo>
                  <a:lnTo>
                    <a:pt x="1234439" y="0"/>
                  </a:lnTo>
                  <a:lnTo>
                    <a:pt x="1234439" y="54863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1" name="object 41"/>
            <p:cNvSpPr/>
            <p:nvPr/>
          </p:nvSpPr>
          <p:spPr bwMode="auto">
            <a:xfrm>
              <a:off x="6217920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 fill="norm" stroke="1" extrusionOk="0">
                  <a:moveTo>
                    <a:pt x="0" y="0"/>
                  </a:moveTo>
                  <a:lnTo>
                    <a:pt x="1234439" y="0"/>
                  </a:lnTo>
                  <a:lnTo>
                    <a:pt x="1234439" y="548639"/>
                  </a:lnTo>
                  <a:lnTo>
                    <a:pt x="0" y="5486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88542217" name="object 42"/>
          <p:cNvSpPr txBox="1"/>
          <p:nvPr/>
        </p:nvSpPr>
        <p:spPr bwMode="auto">
          <a:xfrm>
            <a:off x="5404104" y="3813555"/>
            <a:ext cx="16459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</a:rPr>
              <a:t>Tune 20%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901418839" name="object 43"/>
          <p:cNvGrpSpPr/>
          <p:nvPr/>
        </p:nvGrpSpPr>
        <p:grpSpPr bwMode="auto">
          <a:xfrm>
            <a:off x="7050024" y="3648074"/>
            <a:ext cx="1645920" cy="567690"/>
            <a:chOff x="7442834" y="3648074"/>
            <a:chExt cx="1253490" cy="567690"/>
          </a:xfrm>
        </p:grpSpPr>
        <p:sp>
          <p:nvSpPr>
            <p:cNvPr id="44" name="object 44"/>
            <p:cNvSpPr/>
            <p:nvPr/>
          </p:nvSpPr>
          <p:spPr bwMode="auto">
            <a:xfrm>
              <a:off x="7452359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 fill="norm" stroke="1" extrusionOk="0">
                  <a:moveTo>
                    <a:pt x="1234439" y="548639"/>
                  </a:moveTo>
                  <a:lnTo>
                    <a:pt x="0" y="548639"/>
                  </a:lnTo>
                  <a:lnTo>
                    <a:pt x="0" y="0"/>
                  </a:lnTo>
                  <a:lnTo>
                    <a:pt x="1234439" y="0"/>
                  </a:lnTo>
                  <a:lnTo>
                    <a:pt x="1234439" y="54863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5" name="object 45"/>
            <p:cNvSpPr/>
            <p:nvPr/>
          </p:nvSpPr>
          <p:spPr bwMode="auto">
            <a:xfrm>
              <a:off x="7452359" y="3657600"/>
              <a:ext cx="1234440" cy="548640"/>
            </a:xfrm>
            <a:custGeom>
              <a:avLst/>
              <a:gdLst/>
              <a:ahLst/>
              <a:cxnLst/>
              <a:rect l="l" t="t" r="r" b="b"/>
              <a:pathLst>
                <a:path w="1234440" h="548639" fill="norm" stroke="1" extrusionOk="0">
                  <a:moveTo>
                    <a:pt x="0" y="0"/>
                  </a:moveTo>
                  <a:lnTo>
                    <a:pt x="1234439" y="0"/>
                  </a:lnTo>
                  <a:lnTo>
                    <a:pt x="1234439" y="548639"/>
                  </a:lnTo>
                  <a:lnTo>
                    <a:pt x="0" y="5486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0494669" name="object 46"/>
          <p:cNvSpPr txBox="1"/>
          <p:nvPr/>
        </p:nvSpPr>
        <p:spPr bwMode="auto">
          <a:xfrm>
            <a:off x="7050024" y="3813555"/>
            <a:ext cx="16459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</a:rPr>
              <a:t>Test 20%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53859065" name="object 47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949256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pc="-30"/>
              <a:t>Validation</a:t>
            </a:r>
            <a:r>
              <a:rPr spc="-135"/>
              <a:t> </a:t>
            </a:r>
            <a:r>
              <a:rPr spc="-20"/>
              <a:t>Plan</a:t>
            </a:r>
            <a:endParaRPr/>
          </a:p>
        </p:txBody>
      </p:sp>
      <p:grpSp>
        <p:nvGrpSpPr>
          <p:cNvPr id="460626917" name="object 3"/>
          <p:cNvGrpSpPr/>
          <p:nvPr/>
        </p:nvGrpSpPr>
        <p:grpSpPr bwMode="auto">
          <a:xfrm>
            <a:off x="450850" y="1136650"/>
            <a:ext cx="8242300" cy="744220"/>
            <a:chOff x="450850" y="1136650"/>
            <a:chExt cx="8242300" cy="74422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43000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 fill="norm" stroke="1" extrusionOk="0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43000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640079" y="126187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 fill="norm" stroke="1" extrusionOk="0">
                  <a:moveTo>
                    <a:pt x="246887" y="493775"/>
                  </a:move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640079" y="1261871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 fill="norm" stroke="1" extrusionOk="0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8" name="object 8"/>
            <p:cNvPicPr/>
            <p:nvPr/>
          </p:nvPicPr>
          <p:blipFill rotWithShape="1">
            <a:blip r:embed="rId3"/>
            <a:stretch/>
          </p:blipFill>
          <p:spPr bwMode="auto">
            <a:xfrm>
              <a:off x="773400" y="1395192"/>
              <a:ext cx="227136" cy="227136"/>
            </a:xfrm>
            <a:prstGeom prst="rect">
              <a:avLst/>
            </a:prstGeom>
          </p:spPr>
        </p:pic>
      </p:grpSp>
      <p:sp>
        <p:nvSpPr>
          <p:cNvPr id="240434481" name="object 9"/>
          <p:cNvSpPr txBox="1"/>
          <p:nvPr/>
        </p:nvSpPr>
        <p:spPr bwMode="auto">
          <a:xfrm>
            <a:off x="1358900" y="1366011"/>
            <a:ext cx="1590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Evaluation</a:t>
            </a:r>
            <a:r>
              <a:rPr sz="1600" b="1" spc="-35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Metrics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88600410" name="object 10"/>
          <p:cNvSpPr txBox="1"/>
          <p:nvPr/>
        </p:nvSpPr>
        <p:spPr bwMode="auto">
          <a:xfrm>
            <a:off x="3827780" y="1272539"/>
            <a:ext cx="4709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1A1F36"/>
                </a:solidFill>
                <a:latin typeface="Calibri"/>
                <a:cs typeface="Calibri"/>
              </a:rPr>
              <a:t>Precision, Recall, F₁, false-positive rate FP/(FP+TN), detection delay Δt from fault start to first flag, F₁ drop at 5–20% missing 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18461377" name="object 11"/>
          <p:cNvGrpSpPr/>
          <p:nvPr/>
        </p:nvGrpSpPr>
        <p:grpSpPr bwMode="auto">
          <a:xfrm>
            <a:off x="450850" y="1968754"/>
            <a:ext cx="8242300" cy="744220"/>
            <a:chOff x="450850" y="1968754"/>
            <a:chExt cx="8242300" cy="744220"/>
          </a:xfrm>
        </p:grpSpPr>
        <p:sp>
          <p:nvSpPr>
            <p:cNvPr id="12" name="object 12"/>
            <p:cNvSpPr/>
            <p:nvPr/>
          </p:nvSpPr>
          <p:spPr bwMode="auto">
            <a:xfrm>
              <a:off x="457200" y="1975104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 fill="norm" stroke="1" extrusionOk="0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457200" y="1975104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19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640079" y="209397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 fill="norm" stroke="1" extrusionOk="0">
                  <a:moveTo>
                    <a:pt x="246887" y="493775"/>
                  </a:move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640079" y="209397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 fill="norm" stroke="1" extrusionOk="0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6" name="object 16"/>
            <p:cNvPicPr/>
            <p:nvPr/>
          </p:nvPicPr>
          <p:blipFill rotWithShape="1">
            <a:blip r:embed="rId4"/>
            <a:stretch/>
          </p:blipFill>
          <p:spPr bwMode="auto">
            <a:xfrm>
              <a:off x="773400" y="2227296"/>
              <a:ext cx="227136" cy="227136"/>
            </a:xfrm>
            <a:prstGeom prst="rect">
              <a:avLst/>
            </a:prstGeom>
          </p:spPr>
        </p:pic>
      </p:grpSp>
      <p:sp>
        <p:nvSpPr>
          <p:cNvPr id="1017937815" name="object 17"/>
          <p:cNvSpPr txBox="1"/>
          <p:nvPr/>
        </p:nvSpPr>
        <p:spPr bwMode="auto">
          <a:xfrm>
            <a:off x="1358900" y="2198116"/>
            <a:ext cx="10579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Benchmarks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09706675" name="object 18"/>
          <p:cNvSpPr txBox="1"/>
          <p:nvPr/>
        </p:nvSpPr>
        <p:spPr bwMode="auto">
          <a:xfrm>
            <a:off x="3827780" y="2104644"/>
            <a:ext cx="4709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1A1F36"/>
                </a:solidFill>
                <a:latin typeface="Calibri"/>
                <a:cs typeface="Calibri"/>
              </a:rPr>
              <a:t>Static range + 3σ Shewhart baseline and KNN-CAD on the same test set: 58 injected faults across all 4 classes + 1 real storm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92042183" name="object 19"/>
          <p:cNvGrpSpPr/>
          <p:nvPr/>
        </p:nvGrpSpPr>
        <p:grpSpPr bwMode="auto">
          <a:xfrm>
            <a:off x="450850" y="2800857"/>
            <a:ext cx="8242300" cy="744220"/>
            <a:chOff x="450850" y="2800857"/>
            <a:chExt cx="8242300" cy="744220"/>
          </a:xfrm>
        </p:grpSpPr>
        <p:sp>
          <p:nvSpPr>
            <p:cNvPr id="20" name="object 20"/>
            <p:cNvSpPr/>
            <p:nvPr/>
          </p:nvSpPr>
          <p:spPr bwMode="auto">
            <a:xfrm>
              <a:off x="457200" y="2807207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 fill="norm" stroke="1" extrusionOk="0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8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8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 bwMode="auto">
            <a:xfrm>
              <a:off x="457200" y="2807207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8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8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2" name="object 22"/>
            <p:cNvSpPr/>
            <p:nvPr/>
          </p:nvSpPr>
          <p:spPr bwMode="auto">
            <a:xfrm>
              <a:off x="640079" y="292607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 fill="norm" stroke="1" extrusionOk="0">
                  <a:moveTo>
                    <a:pt x="246887" y="493775"/>
                  </a:moveTo>
                  <a:lnTo>
                    <a:pt x="197131" y="488759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3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3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59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 bwMode="auto">
            <a:xfrm>
              <a:off x="640079" y="292607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 fill="norm" stroke="1" extrusionOk="0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3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59"/>
                  </a:lnTo>
                  <a:lnTo>
                    <a:pt x="246887" y="493775"/>
                  </a:lnTo>
                  <a:lnTo>
                    <a:pt x="197131" y="488759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3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4" name="object 24"/>
            <p:cNvPicPr/>
            <p:nvPr/>
          </p:nvPicPr>
          <p:blipFill rotWithShape="1">
            <a:blip r:embed="rId5"/>
            <a:stretch/>
          </p:blipFill>
          <p:spPr bwMode="auto">
            <a:xfrm>
              <a:off x="773400" y="3059400"/>
              <a:ext cx="227136" cy="227136"/>
            </a:xfrm>
            <a:prstGeom prst="rect">
              <a:avLst/>
            </a:prstGeom>
          </p:spPr>
        </p:pic>
      </p:grpSp>
      <p:sp>
        <p:nvSpPr>
          <p:cNvPr id="1845768003" name="object 25"/>
          <p:cNvSpPr txBox="1"/>
          <p:nvPr/>
        </p:nvSpPr>
        <p:spPr bwMode="auto">
          <a:xfrm>
            <a:off x="1358900" y="3030220"/>
            <a:ext cx="11112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Failure</a:t>
            </a:r>
            <a:r>
              <a:rPr sz="1600" b="1" spc="-30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Cases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92630574" name="object 26"/>
          <p:cNvSpPr txBox="1"/>
          <p:nvPr/>
        </p:nvSpPr>
        <p:spPr bwMode="auto">
          <a:xfrm>
            <a:off x="3827780" y="2936748"/>
            <a:ext cx="4709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1A1F36"/>
                </a:solidFill>
                <a:latin typeface="Calibri"/>
                <a:cs typeface="Calibri"/>
              </a:rPr>
              <a:t>A brown-out biasing T, H, P along their natural correlation; a fault at the exact onset of a convective storm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15884647" name="object 27"/>
          <p:cNvGrpSpPr/>
          <p:nvPr/>
        </p:nvGrpSpPr>
        <p:grpSpPr bwMode="auto">
          <a:xfrm>
            <a:off x="450850" y="3632961"/>
            <a:ext cx="8242300" cy="744220"/>
            <a:chOff x="450850" y="3632961"/>
            <a:chExt cx="8242300" cy="744220"/>
          </a:xfrm>
        </p:grpSpPr>
        <p:sp>
          <p:nvSpPr>
            <p:cNvPr id="28" name="object 28"/>
            <p:cNvSpPr/>
            <p:nvPr/>
          </p:nvSpPr>
          <p:spPr bwMode="auto">
            <a:xfrm>
              <a:off x="457200" y="3639311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 fill="norm" stroke="1" extrusionOk="0">
                  <a:moveTo>
                    <a:pt x="8156447" y="731519"/>
                  </a:move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9" name="object 29"/>
            <p:cNvSpPr/>
            <p:nvPr/>
          </p:nvSpPr>
          <p:spPr bwMode="auto">
            <a:xfrm>
              <a:off x="457200" y="3639311"/>
              <a:ext cx="8229600" cy="731520"/>
            </a:xfrm>
            <a:custGeom>
              <a:avLst/>
              <a:gdLst/>
              <a:ahLst/>
              <a:cxnLst/>
              <a:rect l="l" t="t" r="r" b="b"/>
              <a:pathLst>
                <a:path w="8229600" h="731520" fill="norm" stroke="1" extrusionOk="0">
                  <a:moveTo>
                    <a:pt x="0" y="73151"/>
                  </a:moveTo>
                  <a:lnTo>
                    <a:pt x="5748" y="44677"/>
                  </a:lnTo>
                  <a:lnTo>
                    <a:pt x="21425" y="21425"/>
                  </a:lnTo>
                  <a:lnTo>
                    <a:pt x="44677" y="5748"/>
                  </a:lnTo>
                  <a:lnTo>
                    <a:pt x="73151" y="0"/>
                  </a:lnTo>
                  <a:lnTo>
                    <a:pt x="8156447" y="0"/>
                  </a:lnTo>
                  <a:lnTo>
                    <a:pt x="8197032" y="12290"/>
                  </a:lnTo>
                  <a:lnTo>
                    <a:pt x="8224031" y="45157"/>
                  </a:lnTo>
                  <a:lnTo>
                    <a:pt x="8229599" y="73151"/>
                  </a:lnTo>
                  <a:lnTo>
                    <a:pt x="8229599" y="658367"/>
                  </a:lnTo>
                  <a:lnTo>
                    <a:pt x="8223851" y="686842"/>
                  </a:lnTo>
                  <a:lnTo>
                    <a:pt x="8208174" y="710094"/>
                  </a:lnTo>
                  <a:lnTo>
                    <a:pt x="8184921" y="725771"/>
                  </a:lnTo>
                  <a:lnTo>
                    <a:pt x="8156447" y="731519"/>
                  </a:lnTo>
                  <a:lnTo>
                    <a:pt x="73151" y="731519"/>
                  </a:lnTo>
                  <a:lnTo>
                    <a:pt x="44677" y="725771"/>
                  </a:lnTo>
                  <a:lnTo>
                    <a:pt x="21425" y="710094"/>
                  </a:lnTo>
                  <a:lnTo>
                    <a:pt x="5748" y="686842"/>
                  </a:lnTo>
                  <a:lnTo>
                    <a:pt x="0" y="658367"/>
                  </a:lnTo>
                  <a:lnTo>
                    <a:pt x="0" y="7315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0" name="object 30"/>
            <p:cNvSpPr/>
            <p:nvPr/>
          </p:nvSpPr>
          <p:spPr bwMode="auto">
            <a:xfrm>
              <a:off x="640079" y="375818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 fill="norm" stroke="1" extrusionOk="0">
                  <a:moveTo>
                    <a:pt x="246887" y="493775"/>
                  </a:move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1" name="object 31"/>
            <p:cNvSpPr/>
            <p:nvPr/>
          </p:nvSpPr>
          <p:spPr bwMode="auto">
            <a:xfrm>
              <a:off x="640079" y="375818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 fill="norm" stroke="1" extrusionOk="0">
                  <a:moveTo>
                    <a:pt x="0" y="246887"/>
                  </a:moveTo>
                  <a:lnTo>
                    <a:pt x="5015" y="197131"/>
                  </a:lnTo>
                  <a:lnTo>
                    <a:pt x="19401" y="150788"/>
                  </a:lnTo>
                  <a:lnTo>
                    <a:pt x="42164" y="108850"/>
                  </a:lnTo>
                  <a:lnTo>
                    <a:pt x="72311" y="72311"/>
                  </a:lnTo>
                  <a:lnTo>
                    <a:pt x="108850" y="42164"/>
                  </a:lnTo>
                  <a:lnTo>
                    <a:pt x="150788" y="19401"/>
                  </a:lnTo>
                  <a:lnTo>
                    <a:pt x="197131" y="5015"/>
                  </a:lnTo>
                  <a:lnTo>
                    <a:pt x="246887" y="0"/>
                  </a:lnTo>
                  <a:lnTo>
                    <a:pt x="295278" y="4787"/>
                  </a:lnTo>
                  <a:lnTo>
                    <a:pt x="341367" y="18793"/>
                  </a:lnTo>
                  <a:lnTo>
                    <a:pt x="383861" y="41480"/>
                  </a:lnTo>
                  <a:lnTo>
                    <a:pt x="421464" y="72311"/>
                  </a:lnTo>
                  <a:lnTo>
                    <a:pt x="452295" y="109914"/>
                  </a:lnTo>
                  <a:lnTo>
                    <a:pt x="474982" y="152408"/>
                  </a:lnTo>
                  <a:lnTo>
                    <a:pt x="488988" y="198497"/>
                  </a:lnTo>
                  <a:lnTo>
                    <a:pt x="493775" y="246887"/>
                  </a:lnTo>
                  <a:lnTo>
                    <a:pt x="488760" y="296644"/>
                  </a:lnTo>
                  <a:lnTo>
                    <a:pt x="474374" y="342987"/>
                  </a:lnTo>
                  <a:lnTo>
                    <a:pt x="451611" y="384925"/>
                  </a:lnTo>
                  <a:lnTo>
                    <a:pt x="421464" y="421464"/>
                  </a:lnTo>
                  <a:lnTo>
                    <a:pt x="384925" y="451611"/>
                  </a:lnTo>
                  <a:lnTo>
                    <a:pt x="342987" y="474374"/>
                  </a:lnTo>
                  <a:lnTo>
                    <a:pt x="296644" y="488760"/>
                  </a:lnTo>
                  <a:lnTo>
                    <a:pt x="246887" y="493775"/>
                  </a:lnTo>
                  <a:lnTo>
                    <a:pt x="197131" y="488760"/>
                  </a:lnTo>
                  <a:lnTo>
                    <a:pt x="150788" y="474374"/>
                  </a:lnTo>
                  <a:lnTo>
                    <a:pt x="108850" y="451611"/>
                  </a:lnTo>
                  <a:lnTo>
                    <a:pt x="72311" y="421464"/>
                  </a:lnTo>
                  <a:lnTo>
                    <a:pt x="42164" y="384925"/>
                  </a:lnTo>
                  <a:lnTo>
                    <a:pt x="19401" y="342987"/>
                  </a:lnTo>
                  <a:lnTo>
                    <a:pt x="5015" y="296644"/>
                  </a:lnTo>
                  <a:lnTo>
                    <a:pt x="0" y="246887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32" name="object 32"/>
            <p:cNvPicPr/>
            <p:nvPr/>
          </p:nvPicPr>
          <p:blipFill rotWithShape="1">
            <a:blip r:embed="rId6"/>
            <a:stretch/>
          </p:blipFill>
          <p:spPr bwMode="auto">
            <a:xfrm>
              <a:off x="773400" y="3891504"/>
              <a:ext cx="227136" cy="227136"/>
            </a:xfrm>
            <a:prstGeom prst="rect">
              <a:avLst/>
            </a:prstGeom>
          </p:spPr>
        </p:pic>
      </p:grpSp>
      <p:sp>
        <p:nvSpPr>
          <p:cNvPr id="437881830" name="object 33"/>
          <p:cNvSpPr txBox="1"/>
          <p:nvPr/>
        </p:nvSpPr>
        <p:spPr bwMode="auto">
          <a:xfrm>
            <a:off x="1358900" y="3862323"/>
            <a:ext cx="1304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Reproducibility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59242440" name="object 34"/>
          <p:cNvSpPr txBox="1"/>
          <p:nvPr/>
        </p:nvSpPr>
        <p:spPr bwMode="auto">
          <a:xfrm>
            <a:off x="3827780" y="3768851"/>
            <a:ext cx="4709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>
                <a:solidFill>
                  <a:srgbClr val="1A1F36"/>
                </a:solidFill>
                <a:latin typeface="Calibri"/>
                <a:cs typeface="Calibri"/>
              </a:rPr>
              <a:t>Seed = 42 fault placement; chronological split; deterministic pipeline with no external API at run time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74973087" name="object 3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361420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444499" y="351027"/>
            <a:ext cx="8392150" cy="53121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Benchmark: Baseline vs Proposed</a:t>
            </a:r>
            <a:endParaRPr/>
          </a:p>
        </p:txBody>
      </p:sp>
      <p:sp>
        <p:nvSpPr>
          <p:cNvPr id="371409270" name="object 3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  <p:sp>
        <p:nvSpPr>
          <p:cNvPr id="1632776956" name="Benchmark card"/>
          <p:cNvSpPr/>
          <p:nvPr/>
        </p:nvSpPr>
        <p:spPr bwMode="auto">
          <a:xfrm>
            <a:off x="448056" y="105156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graphicFrame>
        <p:nvGraphicFramePr>
          <p:cNvPr id="32608910" name="Benchmark chart"/>
          <p:cNvGraphicFramePr>
            <a:graphicFrameLocks xmlns:a="http://schemas.openxmlformats.org/drawingml/2006/main" noGrp="1"/>
          </p:cNvGraphicFramePr>
          <p:nvPr/>
        </p:nvGraphicFramePr>
        <p:xfrm rot="0">
          <a:off x="502920" y="1078992"/>
          <a:ext cx="5010912" cy="1773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16490582" name="KPI 1"/>
          <p:cNvSpPr/>
          <p:nvPr/>
        </p:nvSpPr>
        <p:spPr bwMode="auto">
          <a:xfrm>
            <a:off x="5715000" y="1051560"/>
            <a:ext cx="2980944" cy="86868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801224725" name="KPI label 1"/>
          <p:cNvSpPr txBox="1"/>
          <p:nvPr/>
        </p:nvSpPr>
        <p:spPr bwMode="auto">
          <a:xfrm>
            <a:off x="5870448" y="112471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5B6478"/>
                </a:solidFill>
                <a:latin typeface="Calibri"/>
              </a:rPr>
              <a:t>False-positive rate</a:t>
            </a:r>
            <a:endParaRPr/>
          </a:p>
        </p:txBody>
      </p:sp>
      <p:sp>
        <p:nvSpPr>
          <p:cNvPr id="20772209" name="KPI value 1"/>
          <p:cNvSpPr txBox="1"/>
          <p:nvPr/>
        </p:nvSpPr>
        <p:spPr bwMode="auto">
          <a:xfrm>
            <a:off x="5870448" y="134416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A7F9E"/>
                </a:solidFill>
                <a:latin typeface="Cambria"/>
              </a:rPr>
              <a:t>0.45%</a:t>
            </a:r>
            <a:r>
              <a:rPr sz="1100" b="0" i="0">
                <a:solidFill>
                  <a:srgbClr val="5B6478"/>
                </a:solidFill>
                <a:latin typeface="Calibri"/>
              </a:rPr>
              <a:t>   from 1.51%</a:t>
            </a:r>
            <a:endParaRPr/>
          </a:p>
        </p:txBody>
      </p:sp>
      <p:sp>
        <p:nvSpPr>
          <p:cNvPr id="159110077" name="KPI note 1"/>
          <p:cNvSpPr txBox="1"/>
          <p:nvPr/>
        </p:nvSpPr>
        <p:spPr bwMode="auto">
          <a:xfrm>
            <a:off x="5870448" y="1691639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1A1F36"/>
                </a:solidFill>
                <a:latin typeface="Calibri"/>
              </a:rPr>
              <a:t>3.4× fewer false alarms</a:t>
            </a:r>
            <a:endParaRPr/>
          </a:p>
        </p:txBody>
      </p:sp>
      <p:sp>
        <p:nvSpPr>
          <p:cNvPr id="1716573823" name="KPI 2"/>
          <p:cNvSpPr/>
          <p:nvPr/>
        </p:nvSpPr>
        <p:spPr bwMode="auto">
          <a:xfrm>
            <a:off x="5715000" y="1993390"/>
            <a:ext cx="2980944" cy="868680"/>
          </a:xfrm>
          <a:prstGeom prst="roundRect">
            <a:avLst>
              <a:gd name="adj" fmla="val 6000"/>
            </a:avLst>
          </a:prstGeom>
          <a:solidFill>
            <a:srgbClr val="EEF1F9"/>
          </a:solidFill>
          <a:ln w="9525">
            <a:solidFill>
              <a:srgbClr val="D4DCEA"/>
            </a:solidFill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218969552" name="KPI label 2"/>
          <p:cNvSpPr txBox="1"/>
          <p:nvPr/>
        </p:nvSpPr>
        <p:spPr bwMode="auto">
          <a:xfrm>
            <a:off x="5870448" y="2066543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5B6478"/>
                </a:solidFill>
                <a:latin typeface="Calibri"/>
              </a:rPr>
              <a:t>Mean detection delay</a:t>
            </a:r>
            <a:endParaRPr/>
          </a:p>
        </p:txBody>
      </p:sp>
      <p:sp>
        <p:nvSpPr>
          <p:cNvPr id="2054239762" name="KPI value 2"/>
          <p:cNvSpPr txBox="1"/>
          <p:nvPr/>
        </p:nvSpPr>
        <p:spPr bwMode="auto">
          <a:xfrm>
            <a:off x="5870448" y="2285999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6B3EA0"/>
                </a:solidFill>
                <a:latin typeface="Cambria"/>
              </a:rPr>
              <a:t>2.1 h</a:t>
            </a:r>
            <a:r>
              <a:rPr sz="1100" b="0" i="0">
                <a:solidFill>
                  <a:srgbClr val="5B6478"/>
                </a:solidFill>
                <a:latin typeface="Calibri"/>
              </a:rPr>
              <a:t>   from 14.5 h</a:t>
            </a:r>
            <a:endParaRPr/>
          </a:p>
        </p:txBody>
      </p:sp>
      <p:sp>
        <p:nvSpPr>
          <p:cNvPr id="590416641" name="KPI note 2"/>
          <p:cNvSpPr txBox="1"/>
          <p:nvPr/>
        </p:nvSpPr>
        <p:spPr bwMode="auto">
          <a:xfrm>
            <a:off x="5870448" y="263347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000" b="0" i="0">
                <a:solidFill>
                  <a:srgbClr val="1A1F36"/>
                </a:solidFill>
                <a:latin typeface="Calibri"/>
              </a:rPr>
              <a:t>flatlines &amp; drift caught early</a:t>
            </a:r>
            <a:endParaRPr/>
          </a:p>
        </p:txBody>
      </p:sp>
      <p:graphicFrame>
        <p:nvGraphicFramePr>
          <p:cNvPr id="159983763" name="Diagnostic log"/>
          <p:cNvGraphicFramePr>
            <a:graphicFrameLocks xmlns:a="http://schemas.openxmlformats.org/drawingml/2006/main" noGrp="1"/>
          </p:cNvGraphicFramePr>
          <p:nvPr/>
        </p:nvGraphicFramePr>
        <p:xfrm rot="0">
          <a:off x="448056" y="2990088"/>
          <a:ext cx="8247888" cy="1371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234440"/>
                <a:gridCol w="2514600"/>
                <a:gridCol w="1783080"/>
                <a:gridCol w="2715768"/>
              </a:tblGrid>
              <a:tr h="228600">
                <a:tc>
                  <a:txBody>
                    <a:bodyPr/>
                    <a:p>
                      <a:pPr>
                        <a:defRPr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Timestamp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A8203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Observed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A8203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Score vs threshold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A8203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Certificate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A82039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Day 04 · 03:00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T = 34.8 °C (expected 20.4)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M = 11.42 &gt; 3.5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>
                          <a:solidFill>
                            <a:srgbClr val="A82039"/>
                          </a:solidFill>
                          <a:latin typeface="Calibri"/>
                        </a:rPr>
                        <a:t>TEMPORAL_SPIKE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Day 09 · 14:00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T = 29.50 °C frozen for 6 h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s²(6) = 0 &lt; 10⁻⁶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>
                          <a:solidFill>
                            <a:srgbClr val="E7A317"/>
                          </a:solidFill>
                          <a:latin typeface="Calibri"/>
                        </a:rPr>
                        <a:t>FLATLINE_FAULT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Day 16 · 18:00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T = 28.9 °C (expected 25.7)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C⁺ = 6.84 &gt; 5.0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>
                          <a:solidFill>
                            <a:srgbClr val="6B3EA0"/>
                          </a:solidFill>
                          <a:latin typeface="Calibri"/>
                        </a:rPr>
                        <a:t>CALIBRATION_DRIFT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Day 22 · 15:00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R = 38 mm, H = 28%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D² = 34.8 &gt; 20.52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>
                          <a:solidFill>
                            <a:srgbClr val="2A7F9E"/>
                          </a:solidFill>
                          <a:latin typeface="Calibri"/>
                        </a:rPr>
                        <a:t>MULTIVARIATE_INCONSISTENCY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EF1F9"/>
                    </a:solidFill>
                  </a:tcPr>
                </a:tc>
              </a:tr>
              <a:tr h="22860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Day 26 · 16:00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3F4EC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R = 42 mm, H = 96%, P −4.2 hPa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3F4EC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>
                          <a:solidFill>
                            <a:srgbClr val="1A1F36"/>
                          </a:solidFill>
                          <a:latin typeface="Calibri"/>
                        </a:rPr>
                        <a:t>D² = 9.4 ≤ 20.52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3F4EC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1">
                          <a:solidFill>
                            <a:srgbClr val="1E7A4C"/>
                          </a:solidFill>
                          <a:latin typeface="Calibri"/>
                        </a:rPr>
                        <a:t>VALID_EXTREME_WEATHER · kept</a:t>
                      </a:r>
                      <a:endParaRPr/>
                    </a:p>
                  </a:txBody>
                  <a:tcPr marL="73152" marT="27432" marB="27432" anchor="ctr">
                    <a:solidFill>
                      <a:srgbClr val="E3F4EC"/>
                    </a:solidFill>
                  </a:tcPr>
                </a:tc>
              </a:tr>
            </a:tbl>
          </a:graphicData>
        </a:graphic>
      </p:graphicFrame>
      <p:sp>
        <p:nvSpPr>
          <p:cNvPr id="1632617321" name="Benchmark footnote"/>
          <p:cNvSpPr txBox="1"/>
          <p:nvPr/>
        </p:nvSpPr>
        <p:spPr bwMode="auto">
          <a:xfrm>
            <a:off x="448056" y="4407408"/>
            <a:ext cx="82478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B6478"/>
                </a:solidFill>
                <a:latin typeface="Calibri"/>
              </a:rPr>
              <a:t>Targets from our validation plan (N = 720 h, 58 injected faults, seed 42). The live prototype recomputes every number on real Open-Meteo data.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257207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Prototype</a:t>
            </a:r>
            <a:r>
              <a:rPr spc="-95"/>
              <a:t> </a:t>
            </a:r>
            <a:r>
              <a:rPr/>
              <a:t>and</a:t>
            </a:r>
            <a:r>
              <a:rPr spc="-90"/>
              <a:t> </a:t>
            </a:r>
            <a:r>
              <a:rPr spc="-20"/>
              <a:t>Demo</a:t>
            </a:r>
            <a:endParaRPr/>
          </a:p>
        </p:txBody>
      </p:sp>
      <p:sp>
        <p:nvSpPr>
          <p:cNvPr id="1014476865" name="object 3"/>
          <p:cNvSpPr txBox="1"/>
          <p:nvPr/>
        </p:nvSpPr>
        <p:spPr bwMode="auto">
          <a:xfrm>
            <a:off x="444500" y="1076452"/>
            <a:ext cx="45720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Workflow · edge → cluster → satellite oracle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58571654" name="object 4"/>
          <p:cNvGrpSpPr/>
          <p:nvPr/>
        </p:nvGrpSpPr>
        <p:grpSpPr bwMode="auto">
          <a:xfrm>
            <a:off x="450850" y="1456689"/>
            <a:ext cx="1841500" cy="1018540"/>
            <a:chOff x="450850" y="1456689"/>
            <a:chExt cx="1841500" cy="1018540"/>
          </a:xfrm>
        </p:grpSpPr>
        <p:sp>
          <p:nvSpPr>
            <p:cNvPr id="5" name="object 5"/>
            <p:cNvSpPr/>
            <p:nvPr/>
          </p:nvSpPr>
          <p:spPr bwMode="auto">
            <a:xfrm>
              <a:off x="45720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1737359" y="1005839"/>
                  </a:move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45720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21711976" name="object 7"/>
          <p:cNvSpPr txBox="1"/>
          <p:nvPr/>
        </p:nvSpPr>
        <p:spPr bwMode="auto">
          <a:xfrm>
            <a:off x="557784" y="1731772"/>
            <a:ext cx="1618487" cy="454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Sample Input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xₜ = T, H, P, R, W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01944718" name="object 8"/>
          <p:cNvGrpSpPr/>
          <p:nvPr/>
        </p:nvGrpSpPr>
        <p:grpSpPr bwMode="auto">
          <a:xfrm>
            <a:off x="2316226" y="1456689"/>
            <a:ext cx="2109470" cy="1018540"/>
            <a:chOff x="2316226" y="1456689"/>
            <a:chExt cx="2109470" cy="1018540"/>
          </a:xfrm>
        </p:grpSpPr>
        <p:sp>
          <p:nvSpPr>
            <p:cNvPr id="9" name="object 9"/>
            <p:cNvSpPr/>
            <p:nvPr/>
          </p:nvSpPr>
          <p:spPr bwMode="auto">
            <a:xfrm>
              <a:off x="2322576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2322576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259049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1737358" y="1005839"/>
                  </a:moveTo>
                  <a:lnTo>
                    <a:pt x="91440" y="1005839"/>
                  </a:lnTo>
                  <a:lnTo>
                    <a:pt x="55848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1" y="998654"/>
                  </a:lnTo>
                  <a:lnTo>
                    <a:pt x="1737358" y="100583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/>
            <p:cNvSpPr/>
            <p:nvPr/>
          </p:nvSpPr>
          <p:spPr bwMode="auto">
            <a:xfrm>
              <a:off x="259049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1" y="998654"/>
                  </a:lnTo>
                  <a:lnTo>
                    <a:pt x="1737358" y="1005839"/>
                  </a:lnTo>
                  <a:lnTo>
                    <a:pt x="91440" y="1005839"/>
                  </a:lnTo>
                  <a:lnTo>
                    <a:pt x="55848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20015054" name="object 13"/>
          <p:cNvSpPr txBox="1"/>
          <p:nvPr/>
        </p:nvSpPr>
        <p:spPr bwMode="auto">
          <a:xfrm>
            <a:off x="2660903" y="1731772"/>
            <a:ext cx="1655063" cy="454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physics → robust → oracle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1395078" name="object 14"/>
          <p:cNvGrpSpPr/>
          <p:nvPr/>
        </p:nvGrpSpPr>
        <p:grpSpPr bwMode="auto">
          <a:xfrm>
            <a:off x="4449521" y="1456689"/>
            <a:ext cx="2109470" cy="1018540"/>
            <a:chOff x="4449521" y="1456689"/>
            <a:chExt cx="2109470" cy="1018540"/>
          </a:xfrm>
        </p:grpSpPr>
        <p:sp>
          <p:nvSpPr>
            <p:cNvPr id="15" name="object 15"/>
            <p:cNvSpPr/>
            <p:nvPr/>
          </p:nvSpPr>
          <p:spPr bwMode="auto">
            <a:xfrm>
              <a:off x="4455871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" name="object 16"/>
            <p:cNvSpPr/>
            <p:nvPr/>
          </p:nvSpPr>
          <p:spPr bwMode="auto">
            <a:xfrm>
              <a:off x="4455871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" name="object 17"/>
            <p:cNvSpPr/>
            <p:nvPr/>
          </p:nvSpPr>
          <p:spPr bwMode="auto">
            <a:xfrm>
              <a:off x="472379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1737359" y="1005839"/>
                  </a:move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4723790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9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9" y="1005839"/>
                  </a:ln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24448921" name="object 19"/>
          <p:cNvSpPr txBox="1"/>
          <p:nvPr/>
        </p:nvSpPr>
        <p:spPr bwMode="auto">
          <a:xfrm>
            <a:off x="4800600" y="1731772"/>
            <a:ext cx="1655063" cy="454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ŷₜ + reason + score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35456368" name="object 20"/>
          <p:cNvGrpSpPr/>
          <p:nvPr/>
        </p:nvGrpSpPr>
        <p:grpSpPr bwMode="auto">
          <a:xfrm>
            <a:off x="6582815" y="1456689"/>
            <a:ext cx="2109470" cy="1018540"/>
            <a:chOff x="6582815" y="1456689"/>
            <a:chExt cx="2109470" cy="1018540"/>
          </a:xfrm>
        </p:grpSpPr>
        <p:sp>
          <p:nvSpPr>
            <p:cNvPr id="21" name="object 21"/>
            <p:cNvSpPr/>
            <p:nvPr/>
          </p:nvSpPr>
          <p:spPr bwMode="auto">
            <a:xfrm>
              <a:off x="6589165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114299" y="274319"/>
                  </a:move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close/>
                </a:path>
              </a:pathLst>
            </a:custGeom>
            <a:solidFill>
              <a:srgbClr val="5B647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2" name="object 22"/>
            <p:cNvSpPr/>
            <p:nvPr/>
          </p:nvSpPr>
          <p:spPr bwMode="auto">
            <a:xfrm>
              <a:off x="6589165" y="1828799"/>
              <a:ext cx="228600" cy="274320"/>
            </a:xfrm>
            <a:custGeom>
              <a:avLst/>
              <a:gdLst/>
              <a:ahLst/>
              <a:cxnLst/>
              <a:rect l="l" t="t" r="r" b="b"/>
              <a:pathLst>
                <a:path w="228600" h="274319" fill="norm" stroke="1" extrusionOk="0">
                  <a:moveTo>
                    <a:pt x="0" y="0"/>
                  </a:moveTo>
                  <a:lnTo>
                    <a:pt x="114299" y="0"/>
                  </a:lnTo>
                  <a:lnTo>
                    <a:pt x="228599" y="137159"/>
                  </a:lnTo>
                  <a:lnTo>
                    <a:pt x="114299" y="274319"/>
                  </a:lnTo>
                  <a:lnTo>
                    <a:pt x="0" y="274319"/>
                  </a:lnTo>
                  <a:lnTo>
                    <a:pt x="114299" y="1371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699">
              <a:solidFill>
                <a:srgbClr val="5B6478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 bwMode="auto">
            <a:xfrm>
              <a:off x="685708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1737358" y="1005839"/>
                  </a:move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8" y="100583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4" name="object 24"/>
            <p:cNvSpPr/>
            <p:nvPr/>
          </p:nvSpPr>
          <p:spPr bwMode="auto">
            <a:xfrm>
              <a:off x="6857085" y="1463039"/>
              <a:ext cx="1828800" cy="1005840"/>
            </a:xfrm>
            <a:custGeom>
              <a:avLst/>
              <a:gdLst/>
              <a:ahLst/>
              <a:cxnLst/>
              <a:rect l="l" t="t" r="r" b="b"/>
              <a:pathLst>
                <a:path w="1828800" h="1005839" fill="norm" stroke="1" extrusionOk="0">
                  <a:moveTo>
                    <a:pt x="0" y="91440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7" y="7185"/>
                  </a:lnTo>
                  <a:lnTo>
                    <a:pt x="91440" y="0"/>
                  </a:lnTo>
                  <a:lnTo>
                    <a:pt x="1737358" y="0"/>
                  </a:lnTo>
                  <a:lnTo>
                    <a:pt x="1788090" y="15363"/>
                  </a:lnTo>
                  <a:lnTo>
                    <a:pt x="1821839" y="56447"/>
                  </a:lnTo>
                  <a:lnTo>
                    <a:pt x="1828799" y="91440"/>
                  </a:lnTo>
                  <a:lnTo>
                    <a:pt x="1828799" y="914398"/>
                  </a:lnTo>
                  <a:lnTo>
                    <a:pt x="1821614" y="949991"/>
                  </a:lnTo>
                  <a:lnTo>
                    <a:pt x="1802017" y="979057"/>
                  </a:lnTo>
                  <a:lnTo>
                    <a:pt x="1772952" y="998654"/>
                  </a:lnTo>
                  <a:lnTo>
                    <a:pt x="1737358" y="1005839"/>
                  </a:lnTo>
                  <a:lnTo>
                    <a:pt x="91440" y="1005839"/>
                  </a:lnTo>
                  <a:lnTo>
                    <a:pt x="55847" y="998654"/>
                  </a:lnTo>
                  <a:lnTo>
                    <a:pt x="26782" y="979057"/>
                  </a:lnTo>
                  <a:lnTo>
                    <a:pt x="7185" y="949991"/>
                  </a:lnTo>
                  <a:lnTo>
                    <a:pt x="0" y="914398"/>
                  </a:lnTo>
                  <a:lnTo>
                    <a:pt x="0" y="91440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09099875" name="object 25"/>
          <p:cNvSpPr txBox="1"/>
          <p:nvPr/>
        </p:nvSpPr>
        <p:spPr bwMode="auto">
          <a:xfrm>
            <a:off x="6931152" y="1731772"/>
            <a:ext cx="1655063" cy="454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  <a:defRPr/>
            </a:pPr>
            <a:r>
              <a:rPr sz="1200">
                <a:solidFill>
                  <a:srgbClr val="FFFFFF"/>
                </a:solidFill>
                <a:latin typeface="Calibri"/>
                <a:cs typeface="Calibri"/>
              </a:rPr>
              <a:t>dashboard + audit log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10452188" name="object 26"/>
          <p:cNvSpPr txBox="1"/>
          <p:nvPr/>
        </p:nvSpPr>
        <p:spPr bwMode="auto">
          <a:xfrm>
            <a:off x="444500" y="2722372"/>
            <a:ext cx="21932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Implementation roadmap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88478923" name="object 27"/>
          <p:cNvGrpSpPr/>
          <p:nvPr/>
        </p:nvGrpSpPr>
        <p:grpSpPr bwMode="auto">
          <a:xfrm>
            <a:off x="450850" y="3102610"/>
            <a:ext cx="2664459" cy="1247140"/>
            <a:chOff x="450850" y="3102610"/>
            <a:chExt cx="2664459" cy="1247140"/>
          </a:xfrm>
        </p:grpSpPr>
        <p:sp>
          <p:nvSpPr>
            <p:cNvPr id="28" name="object 28"/>
            <p:cNvSpPr/>
            <p:nvPr/>
          </p:nvSpPr>
          <p:spPr bwMode="auto">
            <a:xfrm>
              <a:off x="45720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 fill="norm" stroke="1" extrusionOk="0">
                  <a:moveTo>
                    <a:pt x="2560324" y="1234439"/>
                  </a:move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9" name="object 29"/>
            <p:cNvSpPr/>
            <p:nvPr/>
          </p:nvSpPr>
          <p:spPr bwMode="auto">
            <a:xfrm>
              <a:off x="45720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 fill="norm" stroke="1" extrusionOk="0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69960248" name="object 30"/>
          <p:cNvSpPr txBox="1"/>
          <p:nvPr/>
        </p:nvSpPr>
        <p:spPr bwMode="auto">
          <a:xfrm>
            <a:off x="627380" y="3116144"/>
            <a:ext cx="233172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350" b="1">
                <a:solidFill>
                  <a:srgbClr val="A82039"/>
                </a:solidFill>
                <a:latin typeface="Calibri"/>
                <a:cs typeface="Calibri"/>
              </a:rPr>
              <a:t>Phase 1 · Prototype (now)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Live single-station pipeline on real Bengaluru data, fault injection, diagnostic dashboard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47269687" name="object 31"/>
          <p:cNvGrpSpPr/>
          <p:nvPr/>
        </p:nvGrpSpPr>
        <p:grpSpPr bwMode="auto">
          <a:xfrm>
            <a:off x="3239770" y="3102610"/>
            <a:ext cx="2664459" cy="1247140"/>
            <a:chOff x="3239770" y="3102610"/>
            <a:chExt cx="2664459" cy="1247140"/>
          </a:xfrm>
        </p:grpSpPr>
        <p:sp>
          <p:nvSpPr>
            <p:cNvPr id="32" name="object 32"/>
            <p:cNvSpPr/>
            <p:nvPr/>
          </p:nvSpPr>
          <p:spPr bwMode="auto">
            <a:xfrm>
              <a:off x="324612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 fill="norm" stroke="1" extrusionOk="0">
                  <a:moveTo>
                    <a:pt x="2560324" y="1234439"/>
                  </a:move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800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3" name="object 33"/>
            <p:cNvSpPr/>
            <p:nvPr/>
          </p:nvSpPr>
          <p:spPr bwMode="auto">
            <a:xfrm>
              <a:off x="3246120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60" h="1234439" fill="norm" stroke="1" extrusionOk="0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800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47054811" name="object 34"/>
          <p:cNvSpPr txBox="1"/>
          <p:nvPr/>
        </p:nvSpPr>
        <p:spPr bwMode="auto">
          <a:xfrm>
            <a:off x="3416300" y="3116144"/>
            <a:ext cx="233172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350" b="1">
                <a:solidFill>
                  <a:srgbClr val="A82039"/>
                </a:solidFill>
                <a:latin typeface="Calibri"/>
                <a:cs typeface="Calibri"/>
              </a:rPr>
              <a:t>Phase 2 · Edge (months 1–2)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Tier 1 on STM32/ESP32: &lt; 5 ms, &lt; 10 KB SRAM; 1-byte QC flag on MQTT packets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0923910" name="object 35"/>
          <p:cNvGrpSpPr/>
          <p:nvPr/>
        </p:nvGrpSpPr>
        <p:grpSpPr bwMode="auto">
          <a:xfrm>
            <a:off x="6028690" y="3102610"/>
            <a:ext cx="2664459" cy="1247140"/>
            <a:chOff x="6028690" y="3102610"/>
            <a:chExt cx="2664459" cy="1247140"/>
          </a:xfrm>
        </p:grpSpPr>
        <p:sp>
          <p:nvSpPr>
            <p:cNvPr id="36" name="object 36"/>
            <p:cNvSpPr/>
            <p:nvPr/>
          </p:nvSpPr>
          <p:spPr bwMode="auto">
            <a:xfrm>
              <a:off x="6035039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59" h="1234439" fill="norm" stroke="1" extrusionOk="0">
                  <a:moveTo>
                    <a:pt x="2560324" y="1234439"/>
                  </a:move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7" name="object 37"/>
            <p:cNvSpPr/>
            <p:nvPr/>
          </p:nvSpPr>
          <p:spPr bwMode="auto">
            <a:xfrm>
              <a:off x="6035039" y="3108960"/>
              <a:ext cx="2651760" cy="1234440"/>
            </a:xfrm>
            <a:custGeom>
              <a:avLst/>
              <a:gdLst/>
              <a:ahLst/>
              <a:cxnLst/>
              <a:rect l="l" t="t" r="r" b="b"/>
              <a:pathLst>
                <a:path w="2651759" h="1234439" fill="norm" stroke="1" extrusionOk="0">
                  <a:moveTo>
                    <a:pt x="0" y="91434"/>
                  </a:moveTo>
                  <a:lnTo>
                    <a:pt x="7185" y="55844"/>
                  </a:lnTo>
                  <a:lnTo>
                    <a:pt x="26780" y="26780"/>
                  </a:lnTo>
                  <a:lnTo>
                    <a:pt x="55844" y="7185"/>
                  </a:lnTo>
                  <a:lnTo>
                    <a:pt x="91434" y="0"/>
                  </a:lnTo>
                  <a:lnTo>
                    <a:pt x="2560324" y="0"/>
                  </a:lnTo>
                  <a:lnTo>
                    <a:pt x="2611053" y="15362"/>
                  </a:lnTo>
                  <a:lnTo>
                    <a:pt x="2644799" y="56444"/>
                  </a:lnTo>
                  <a:lnTo>
                    <a:pt x="2651759" y="91434"/>
                  </a:lnTo>
                  <a:lnTo>
                    <a:pt x="2651759" y="1143004"/>
                  </a:lnTo>
                  <a:lnTo>
                    <a:pt x="2644574" y="1178595"/>
                  </a:lnTo>
                  <a:lnTo>
                    <a:pt x="2624979" y="1207659"/>
                  </a:lnTo>
                  <a:lnTo>
                    <a:pt x="2595915" y="1227254"/>
                  </a:lnTo>
                  <a:lnTo>
                    <a:pt x="2560324" y="1234439"/>
                  </a:lnTo>
                  <a:lnTo>
                    <a:pt x="91434" y="1234439"/>
                  </a:lnTo>
                  <a:lnTo>
                    <a:pt x="55844" y="1227254"/>
                  </a:lnTo>
                  <a:lnTo>
                    <a:pt x="26780" y="1207659"/>
                  </a:lnTo>
                  <a:lnTo>
                    <a:pt x="7185" y="1178595"/>
                  </a:lnTo>
                  <a:lnTo>
                    <a:pt x="0" y="1143004"/>
                  </a:lnTo>
                  <a:lnTo>
                    <a:pt x="0" y="91434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77151701" name="object 38"/>
          <p:cNvSpPr txBox="1"/>
          <p:nvPr/>
        </p:nvSpPr>
        <p:spPr bwMode="auto">
          <a:xfrm>
            <a:off x="6205220" y="3116144"/>
            <a:ext cx="2331720" cy="9010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  <a:defRPr/>
            </a:pPr>
            <a:r>
              <a:rPr sz="1350" b="1">
                <a:solidFill>
                  <a:srgbClr val="A82039"/>
                </a:solidFill>
                <a:latin typeface="Calibri"/>
                <a:cs typeface="Calibri"/>
              </a:rPr>
              <a:t>Phase 3 · City (months 3–6)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50"/>
              </a:spcBef>
              <a:defRPr/>
            </a:pPr>
            <a:r>
              <a:rPr sz="1150">
                <a:solidFill>
                  <a:srgbClr val="1A1F36"/>
                </a:solidFill>
                <a:latin typeface="Calibri"/>
                <a:cs typeface="Calibri"/>
              </a:rPr>
              <a:t>KSNDMC cluster tier + INSAT-3DR/GPM oracle; co-kriging across Bengaluru stations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92980686" name="object 39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593634" name="object 2" descr="$PPTXTit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/>
              <a:t>Risks</a:t>
            </a:r>
            <a:r>
              <a:rPr spc="-65"/>
              <a:t> </a:t>
            </a:r>
            <a:r>
              <a:rPr/>
              <a:t>and</a:t>
            </a:r>
            <a:r>
              <a:rPr spc="-60"/>
              <a:t> </a:t>
            </a:r>
            <a:r>
              <a:rPr spc="-10"/>
              <a:t>Limitations</a:t>
            </a:r>
            <a:endParaRPr/>
          </a:p>
        </p:txBody>
      </p:sp>
      <p:grpSp>
        <p:nvGrpSpPr>
          <p:cNvPr id="94931156" name="object 3"/>
          <p:cNvGrpSpPr/>
          <p:nvPr/>
        </p:nvGrpSpPr>
        <p:grpSpPr bwMode="auto">
          <a:xfrm>
            <a:off x="450850" y="1136650"/>
            <a:ext cx="1932938" cy="2938780"/>
            <a:chOff x="450850" y="1136650"/>
            <a:chExt cx="1932938" cy="2938780"/>
          </a:xfrm>
        </p:grpSpPr>
        <p:sp>
          <p:nvSpPr>
            <p:cNvPr id="4" name="object 4"/>
            <p:cNvSpPr/>
            <p:nvPr/>
          </p:nvSpPr>
          <p:spPr bwMode="auto">
            <a:xfrm>
              <a:off x="45720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 fill="norm" stroke="1" extrusionOk="0">
                  <a:moveTo>
                    <a:pt x="1828798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5720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 fill="norm" stroke="1" extrusionOk="0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64007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 fill="norm" stroke="1" extrusionOk="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A820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64007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 fill="norm" stroke="1" extrusionOk="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grpFill/>
            <a:ln w="12699">
              <a:solidFill>
                <a:srgbClr val="A820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8" name="object 8"/>
            <p:cNvPicPr/>
            <p:nvPr/>
          </p:nvPicPr>
          <p:blipFill rotWithShape="1">
            <a:blip r:embed="rId3"/>
            <a:stretch/>
          </p:blipFill>
          <p:spPr bwMode="auto">
            <a:xfrm>
              <a:off x="812902" y="1544422"/>
              <a:ext cx="294436" cy="294436"/>
            </a:xfrm>
            <a:prstGeom prst="rect">
              <a:avLst/>
            </a:prstGeom>
          </p:spPr>
        </p:pic>
      </p:grpSp>
      <p:sp>
        <p:nvSpPr>
          <p:cNvPr id="1320219890" name="object 9"/>
          <p:cNvSpPr txBox="1"/>
          <p:nvPr/>
        </p:nvSpPr>
        <p:spPr bwMode="auto">
          <a:xfrm>
            <a:off x="627380" y="2173732"/>
            <a:ext cx="14027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Data</a:t>
            </a:r>
            <a:r>
              <a:rPr sz="1600" b="1" spc="-70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Limitations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85956361" name="object 10"/>
          <p:cNvSpPr txBox="1"/>
          <p:nvPr/>
        </p:nvSpPr>
        <p:spPr bwMode="auto">
          <a:xfrm>
            <a:off x="627380" y="2743200"/>
            <a:ext cx="16276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300">
                <a:solidFill>
                  <a:srgbClr val="1A1F36"/>
                </a:solidFill>
                <a:latin typeface="Calibri"/>
                <a:cs typeface="Calibri"/>
              </a:rPr>
              <a:t>Real labelled faults are scarce; we inject physically modelled faults into real weather.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8184169" name="object 11"/>
          <p:cNvGrpSpPr/>
          <p:nvPr/>
        </p:nvGrpSpPr>
        <p:grpSpPr bwMode="auto">
          <a:xfrm>
            <a:off x="2553970" y="1136650"/>
            <a:ext cx="1932938" cy="2938780"/>
            <a:chOff x="2553970" y="1136650"/>
            <a:chExt cx="1932938" cy="2938780"/>
          </a:xfrm>
        </p:grpSpPr>
        <p:sp>
          <p:nvSpPr>
            <p:cNvPr id="12" name="object 12"/>
            <p:cNvSpPr/>
            <p:nvPr/>
          </p:nvSpPr>
          <p:spPr bwMode="auto">
            <a:xfrm>
              <a:off x="256032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 fill="norm" stroke="1" extrusionOk="0">
                  <a:moveTo>
                    <a:pt x="1828798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/>
            <p:cNvSpPr/>
            <p:nvPr/>
          </p:nvSpPr>
          <p:spPr bwMode="auto">
            <a:xfrm>
              <a:off x="256032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39" h="2926079" fill="norm" stroke="1" extrusionOk="0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/>
            <p:cNvSpPr/>
            <p:nvPr/>
          </p:nvSpPr>
          <p:spPr bwMode="auto">
            <a:xfrm>
              <a:off x="274320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 fill="norm" stroke="1" extrusionOk="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1B2A5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/>
            <p:cNvSpPr/>
            <p:nvPr/>
          </p:nvSpPr>
          <p:spPr bwMode="auto">
            <a:xfrm>
              <a:off x="274320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 fill="norm" stroke="1" extrusionOk="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grpFill/>
            <a:ln w="12699">
              <a:solidFill>
                <a:srgbClr val="1B2A5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6" name="object 16"/>
            <p:cNvPicPr/>
            <p:nvPr/>
          </p:nvPicPr>
          <p:blipFill rotWithShape="1">
            <a:blip r:embed="rId4"/>
            <a:stretch/>
          </p:blipFill>
          <p:spPr bwMode="auto">
            <a:xfrm>
              <a:off x="2916022" y="1544422"/>
              <a:ext cx="294436" cy="294436"/>
            </a:xfrm>
            <a:prstGeom prst="rect">
              <a:avLst/>
            </a:prstGeom>
          </p:spPr>
        </p:pic>
      </p:grpSp>
      <p:sp>
        <p:nvSpPr>
          <p:cNvPr id="147417620" name="object 17"/>
          <p:cNvSpPr txBox="1"/>
          <p:nvPr/>
        </p:nvSpPr>
        <p:spPr bwMode="auto">
          <a:xfrm>
            <a:off x="2730500" y="2173732"/>
            <a:ext cx="12801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Computational </a:t>
            </a:r>
            <a:r>
              <a:rPr sz="1600" b="1" spc="-20">
                <a:solidFill>
                  <a:srgbClr val="1B2A5C"/>
                </a:solidFill>
                <a:latin typeface="Calibri"/>
                <a:cs typeface="Calibri"/>
              </a:rPr>
              <a:t>Cost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81817821" name="object 18"/>
          <p:cNvSpPr txBox="1"/>
          <p:nvPr/>
        </p:nvSpPr>
        <p:spPr bwMode="auto">
          <a:xfrm>
            <a:off x="2730500" y="2743200"/>
            <a:ext cx="1627632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300">
                <a:solidFill>
                  <a:srgbClr val="1A1F36"/>
                </a:solidFill>
                <a:latin typeface="Calibri"/>
                <a:cs typeface="Calibri"/>
              </a:rPr>
              <a:t>O(W + d²) per record, &lt; 2 ms on a CPU; satellite tier runs only on escalation.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90221275" name="object 19"/>
          <p:cNvGrpSpPr/>
          <p:nvPr/>
        </p:nvGrpSpPr>
        <p:grpSpPr bwMode="auto">
          <a:xfrm>
            <a:off x="4657090" y="1136650"/>
            <a:ext cx="1932938" cy="2938780"/>
            <a:chOff x="4657090" y="1136650"/>
            <a:chExt cx="1932938" cy="2938780"/>
          </a:xfrm>
        </p:grpSpPr>
        <p:sp>
          <p:nvSpPr>
            <p:cNvPr id="20" name="object 20"/>
            <p:cNvSpPr/>
            <p:nvPr/>
          </p:nvSpPr>
          <p:spPr bwMode="auto">
            <a:xfrm>
              <a:off x="466344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 fill="norm" stroke="1" extrusionOk="0">
                  <a:moveTo>
                    <a:pt x="1828798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" name="object 21"/>
            <p:cNvSpPr/>
            <p:nvPr/>
          </p:nvSpPr>
          <p:spPr bwMode="auto">
            <a:xfrm>
              <a:off x="4663440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 fill="norm" stroke="1" extrusionOk="0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8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8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2" name="object 22"/>
            <p:cNvSpPr/>
            <p:nvPr/>
          </p:nvSpPr>
          <p:spPr bwMode="auto">
            <a:xfrm>
              <a:off x="484632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 fill="norm" stroke="1" extrusionOk="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2A7F9E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 bwMode="auto">
            <a:xfrm>
              <a:off x="4846320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 fill="norm" stroke="1" extrusionOk="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grpFill/>
            <a:ln w="12699">
              <a:solidFill>
                <a:srgbClr val="2A7F9E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24" name="object 24"/>
            <p:cNvPicPr/>
            <p:nvPr/>
          </p:nvPicPr>
          <p:blipFill rotWithShape="1">
            <a:blip r:embed="rId5"/>
            <a:stretch/>
          </p:blipFill>
          <p:spPr bwMode="auto">
            <a:xfrm>
              <a:off x="5019142" y="1544422"/>
              <a:ext cx="294436" cy="294436"/>
            </a:xfrm>
            <a:prstGeom prst="rect">
              <a:avLst/>
            </a:prstGeom>
          </p:spPr>
        </p:pic>
      </p:grpSp>
      <p:sp>
        <p:nvSpPr>
          <p:cNvPr id="702243567" name="object 25"/>
          <p:cNvSpPr txBox="1"/>
          <p:nvPr/>
        </p:nvSpPr>
        <p:spPr bwMode="auto">
          <a:xfrm>
            <a:off x="4833620" y="2173732"/>
            <a:ext cx="10185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Uncertainty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30714154" name="object 26"/>
          <p:cNvSpPr txBox="1"/>
          <p:nvPr/>
        </p:nvSpPr>
        <p:spPr bwMode="auto">
          <a:xfrm>
            <a:off x="4833620" y="2743200"/>
            <a:ext cx="1627632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300">
                <a:solidFill>
                  <a:srgbClr val="1A1F36"/>
                </a:solidFill>
                <a:latin typeface="Calibri"/>
                <a:cs typeface="Calibri"/>
              </a:rPr>
              <a:t>A fault at storm onset can hide in storm variance; Dempster–Shafer keeps doubt explicit.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64934556" name="object 27"/>
          <p:cNvGrpSpPr/>
          <p:nvPr/>
        </p:nvGrpSpPr>
        <p:grpSpPr bwMode="auto">
          <a:xfrm>
            <a:off x="6760209" y="1136650"/>
            <a:ext cx="1932938" cy="2938780"/>
            <a:chOff x="6760209" y="1136650"/>
            <a:chExt cx="1932938" cy="2938780"/>
          </a:xfrm>
        </p:grpSpPr>
        <p:sp>
          <p:nvSpPr>
            <p:cNvPr id="28" name="object 28"/>
            <p:cNvSpPr/>
            <p:nvPr/>
          </p:nvSpPr>
          <p:spPr bwMode="auto">
            <a:xfrm>
              <a:off x="6766559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 fill="norm" stroke="1" extrusionOk="0">
                  <a:moveTo>
                    <a:pt x="1828797" y="2926079"/>
                  </a:move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7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7" y="2926079"/>
                  </a:lnTo>
                  <a:close/>
                </a:path>
              </a:pathLst>
            </a:custGeom>
            <a:solidFill>
              <a:srgbClr val="EEF1F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9" name="object 29"/>
            <p:cNvSpPr/>
            <p:nvPr/>
          </p:nvSpPr>
          <p:spPr bwMode="auto">
            <a:xfrm>
              <a:off x="6766559" y="1143000"/>
              <a:ext cx="1920239" cy="2926080"/>
            </a:xfrm>
            <a:custGeom>
              <a:avLst/>
              <a:gdLst/>
              <a:ahLst/>
              <a:cxnLst/>
              <a:rect l="l" t="t" r="r" b="b"/>
              <a:pathLst>
                <a:path w="1920240" h="2926079" fill="norm" stroke="1" extrusionOk="0">
                  <a:moveTo>
                    <a:pt x="0" y="91441"/>
                  </a:move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828797" y="0"/>
                  </a:lnTo>
                  <a:lnTo>
                    <a:pt x="1879530" y="15363"/>
                  </a:lnTo>
                  <a:lnTo>
                    <a:pt x="1913279" y="56448"/>
                  </a:lnTo>
                  <a:lnTo>
                    <a:pt x="1920239" y="91441"/>
                  </a:lnTo>
                  <a:lnTo>
                    <a:pt x="1920239" y="2834638"/>
                  </a:lnTo>
                  <a:lnTo>
                    <a:pt x="1913054" y="2870231"/>
                  </a:lnTo>
                  <a:lnTo>
                    <a:pt x="1893457" y="2899297"/>
                  </a:lnTo>
                  <a:lnTo>
                    <a:pt x="1864391" y="2918894"/>
                  </a:lnTo>
                  <a:lnTo>
                    <a:pt x="1828797" y="2926079"/>
                  </a:lnTo>
                  <a:lnTo>
                    <a:pt x="91441" y="2926079"/>
                  </a:lnTo>
                  <a:lnTo>
                    <a:pt x="55848" y="2918894"/>
                  </a:lnTo>
                  <a:lnTo>
                    <a:pt x="26782" y="2899297"/>
                  </a:lnTo>
                  <a:lnTo>
                    <a:pt x="7185" y="2870231"/>
                  </a:lnTo>
                  <a:lnTo>
                    <a:pt x="0" y="2834638"/>
                  </a:lnTo>
                  <a:lnTo>
                    <a:pt x="0" y="91441"/>
                  </a:lnTo>
                  <a:close/>
                </a:path>
              </a:pathLst>
            </a:custGeom>
            <a:grpFill/>
            <a:ln w="12699">
              <a:solidFill>
                <a:srgbClr val="EEF1F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0" name="object 30"/>
            <p:cNvSpPr/>
            <p:nvPr/>
          </p:nvSpPr>
          <p:spPr bwMode="auto">
            <a:xfrm>
              <a:off x="694943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 fill="norm" stroke="1" extrusionOk="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6B3EA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1" name="object 31"/>
            <p:cNvSpPr/>
            <p:nvPr/>
          </p:nvSpPr>
          <p:spPr bwMode="auto">
            <a:xfrm>
              <a:off x="6949439" y="137160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 fill="norm" stroke="1" extrusionOk="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grpFill/>
            <a:ln w="12699">
              <a:solidFill>
                <a:srgbClr val="6B3EA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32" name="object 32"/>
            <p:cNvPicPr/>
            <p:nvPr/>
          </p:nvPicPr>
          <p:blipFill rotWithShape="1">
            <a:blip r:embed="rId6"/>
            <a:stretch/>
          </p:blipFill>
          <p:spPr bwMode="auto">
            <a:xfrm>
              <a:off x="7122261" y="1544422"/>
              <a:ext cx="294437" cy="294436"/>
            </a:xfrm>
            <a:prstGeom prst="rect">
              <a:avLst/>
            </a:prstGeom>
          </p:spPr>
        </p:pic>
      </p:grpSp>
      <p:sp>
        <p:nvSpPr>
          <p:cNvPr id="1648123472" name="object 33"/>
          <p:cNvSpPr txBox="1"/>
          <p:nvPr/>
        </p:nvSpPr>
        <p:spPr bwMode="auto">
          <a:xfrm>
            <a:off x="6936740" y="2173732"/>
            <a:ext cx="14046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600" b="1">
                <a:solidFill>
                  <a:srgbClr val="1B2A5C"/>
                </a:solidFill>
                <a:latin typeface="Calibri"/>
                <a:cs typeface="Calibri"/>
              </a:rPr>
              <a:t>Ethical</a:t>
            </a:r>
            <a:r>
              <a:rPr sz="1600" b="1" spc="-60">
                <a:solidFill>
                  <a:srgbClr val="1B2A5C"/>
                </a:solidFill>
                <a:latin typeface="Calibri"/>
                <a:cs typeface="Calibri"/>
              </a:rPr>
              <a:t> </a:t>
            </a:r>
            <a:r>
              <a:rPr sz="1600" b="1" spc="-10">
                <a:solidFill>
                  <a:srgbClr val="1B2A5C"/>
                </a:solidFill>
                <a:latin typeface="Calibri"/>
                <a:cs typeface="Calibri"/>
              </a:rPr>
              <a:t>Concerns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9242262" name="object 34"/>
          <p:cNvSpPr txBox="1"/>
          <p:nvPr/>
        </p:nvSpPr>
        <p:spPr bwMode="auto">
          <a:xfrm>
            <a:off x="6936740" y="2743200"/>
            <a:ext cx="1627632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300">
                <a:solidFill>
                  <a:srgbClr val="1A1F36"/>
                </a:solidFill>
                <a:latin typeface="Calibri"/>
                <a:cs typeface="Calibri"/>
              </a:rPr>
              <a:t>Deleting a real cloudburst blinds flood alerts, so raw data is never deleted: only flagged.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14634401" name="object 3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050"/>
              </a:lnSpc>
              <a:defRPr/>
            </a:pPr>
            <a:fld id="{81D60167-4931-47E6-BA6A-407CBD079E47}" type="slidenum">
              <a:rPr spc="-5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Alliance_One_MathX_Ideation_Demo</dc:title>
  <cp:lastModifiedBy/>
  <cp:revision>1</cp:revision>
  <dcterms:created xsi:type="dcterms:W3CDTF">2026-10-30T05:04:54Z</dcterms:created>
  <dcterms:modified xsi:type="dcterms:W3CDTF">2026-10-30T08:25:55Z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2026-10-30T00:00:00Z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2026-10-30T00:00:00Z</vt:filetime>
  </property>
</Properties>
</file>