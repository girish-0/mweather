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6809" y="4579402"/>
            <a:ext cx="1761743" cy="3034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14600" y="4541199"/>
            <a:ext cx="732422" cy="42110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20440" y="4590288"/>
            <a:ext cx="668896" cy="3108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351028"/>
            <a:ext cx="5302885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54817" y="1412557"/>
            <a:ext cx="4474845" cy="281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73232" y="4697222"/>
            <a:ext cx="2552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B2A5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502920"/>
            <a:ext cx="2666999" cy="457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0792" y="429768"/>
            <a:ext cx="1048190" cy="603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5511" y="502920"/>
            <a:ext cx="983672" cy="45719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1388364"/>
            <a:ext cx="2886710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FFFFFF"/>
                </a:solidFill>
              </a:rPr>
              <a:t>Alliance</a:t>
            </a:r>
            <a:r>
              <a:rPr dirty="0" sz="3200" spc="-90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One</a:t>
            </a:r>
            <a:r>
              <a:rPr dirty="0" sz="3200" spc="-85">
                <a:solidFill>
                  <a:srgbClr val="FFFFFF"/>
                </a:solidFill>
              </a:rPr>
              <a:t> </a:t>
            </a:r>
            <a:r>
              <a:rPr dirty="0" sz="3200" spc="-50">
                <a:solidFill>
                  <a:srgbClr val="FFFFFF"/>
                </a:solidFill>
              </a:rPr>
              <a:t>– </a:t>
            </a:r>
            <a:r>
              <a:rPr dirty="0" sz="3200">
                <a:solidFill>
                  <a:srgbClr val="FFFFFF"/>
                </a:solidFill>
              </a:rPr>
              <a:t>MathX</a:t>
            </a:r>
            <a:r>
              <a:rPr dirty="0" sz="3200" spc="-120">
                <a:solidFill>
                  <a:srgbClr val="FFFFFF"/>
                </a:solidFill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Ideation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444500" y="2870708"/>
            <a:ext cx="3323590" cy="123444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400" b="1">
                <a:solidFill>
                  <a:srgbClr val="EEF1F9"/>
                </a:solidFill>
                <a:latin typeface="Calibri"/>
                <a:cs typeface="Calibri"/>
              </a:rPr>
              <a:t>The </a:t>
            </a:r>
            <a:r>
              <a:rPr dirty="0" sz="1400" spc="-10" b="1">
                <a:solidFill>
                  <a:srgbClr val="EEF1F9"/>
                </a:solidFill>
                <a:latin typeface="Calibri"/>
                <a:cs typeface="Calibri"/>
              </a:rPr>
              <a:t>Mathematics</a:t>
            </a:r>
            <a:r>
              <a:rPr dirty="0" sz="1400" b="1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EEF1F9"/>
                </a:solidFill>
                <a:latin typeface="Calibri"/>
                <a:cs typeface="Calibri"/>
              </a:rPr>
              <a:t>Ideathon</a:t>
            </a:r>
            <a:endParaRPr sz="1400">
              <a:latin typeface="Calibri"/>
              <a:cs typeface="Calibri"/>
            </a:endParaRPr>
          </a:p>
          <a:p>
            <a:pPr marL="12700" marR="17780">
              <a:lnSpc>
                <a:spcPct val="116700"/>
              </a:lnSpc>
            </a:pP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Demo</a:t>
            </a:r>
            <a:r>
              <a:rPr dirty="0"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EF1F9"/>
                </a:solidFill>
                <a:latin typeface="Calibri"/>
                <a:cs typeface="Calibri"/>
              </a:rPr>
              <a:t>presentation</a:t>
            </a:r>
            <a:r>
              <a:rPr dirty="0"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·</a:t>
            </a:r>
            <a:r>
              <a:rPr dirty="0"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30</a:t>
            </a:r>
            <a:r>
              <a:rPr dirty="0" sz="1400" spc="-3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October</a:t>
            </a:r>
            <a:r>
              <a:rPr dirty="0"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2026,</a:t>
            </a:r>
            <a:r>
              <a:rPr dirty="0"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10</a:t>
            </a:r>
            <a:r>
              <a:rPr dirty="0"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EEF1F9"/>
                </a:solidFill>
                <a:latin typeface="Calibri"/>
                <a:cs typeface="Calibri"/>
              </a:rPr>
              <a:t>AM </a:t>
            </a:r>
            <a:r>
              <a:rPr dirty="0" sz="1400" spc="-20">
                <a:solidFill>
                  <a:srgbClr val="EEF1F9"/>
                </a:solidFill>
                <a:latin typeface="Calibri"/>
                <a:cs typeface="Calibri"/>
              </a:rPr>
              <a:t>Venue:</a:t>
            </a:r>
            <a:r>
              <a:rPr dirty="0" sz="1400" spc="-2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EEF1F9"/>
                </a:solidFill>
                <a:latin typeface="Calibri"/>
                <a:cs typeface="Calibri"/>
              </a:rPr>
              <a:t>LT</a:t>
            </a:r>
            <a:r>
              <a:rPr dirty="0" sz="1400" spc="-2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702,</a:t>
            </a:r>
            <a:r>
              <a:rPr dirty="0" sz="1400" spc="-20">
                <a:solidFill>
                  <a:srgbClr val="EEF1F9"/>
                </a:solidFill>
                <a:latin typeface="Calibri"/>
                <a:cs typeface="Calibri"/>
              </a:rPr>
              <a:t> LC-</a:t>
            </a:r>
            <a:r>
              <a:rPr dirty="0" sz="1400" spc="-50">
                <a:solidFill>
                  <a:srgbClr val="EEF1F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80"/>
              </a:spcBef>
            </a:pP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Infinity</a:t>
            </a:r>
            <a:r>
              <a:rPr dirty="0" sz="1400" spc="-5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Club,</a:t>
            </a:r>
            <a:r>
              <a:rPr dirty="0"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EF1F9"/>
                </a:solidFill>
                <a:latin typeface="Calibri"/>
                <a:cs typeface="Calibri"/>
              </a:rPr>
              <a:t>Department</a:t>
            </a:r>
            <a:r>
              <a:rPr dirty="0"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of</a:t>
            </a:r>
            <a:r>
              <a:rPr dirty="0"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Pure</a:t>
            </a:r>
            <a:r>
              <a:rPr dirty="0"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EF1F9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EEF1F9"/>
                </a:solidFill>
                <a:latin typeface="Calibri"/>
                <a:cs typeface="Calibri"/>
              </a:rPr>
              <a:t>Applied Mathematics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92917" y="1412557"/>
          <a:ext cx="4474845" cy="2813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2560320"/>
              </a:tblGrid>
              <a:tr h="40195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Field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A8203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Details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A82039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Problem</a:t>
                      </a:r>
                      <a:r>
                        <a:rPr dirty="0" sz="1200" spc="-2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Statement</a:t>
                      </a:r>
                      <a:r>
                        <a:rPr dirty="0" sz="1200" spc="-2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5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filled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team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104775" marR="3276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Problem</a:t>
                      </a:r>
                      <a:r>
                        <a:rPr dirty="0" sz="1200" spc="-35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Statement </a:t>
                      </a:r>
                      <a:r>
                        <a:rPr dirty="0" sz="1200" spc="-2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5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filled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team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1200" spc="-75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Leader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1200" spc="-75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Members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Names</a:t>
                      </a:r>
                      <a:r>
                        <a:rPr dirty="0" sz="1200" spc="-1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1200" spc="-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1200" spc="-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members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1200" spc="-75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Institution</a:t>
                      </a:r>
                      <a:r>
                        <a:rPr dirty="0" sz="1200" spc="-5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Contact</a:t>
                      </a:r>
                      <a:r>
                        <a:rPr dirty="0" sz="1200" spc="-5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Details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Leader's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email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15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9525">
                      <a:solidFill>
                        <a:srgbClr val="D4DCEA"/>
                      </a:solidFill>
                      <a:prstDash val="solid"/>
                    </a:lnL>
                    <a:lnR w="9525">
                      <a:solidFill>
                        <a:srgbClr val="D4DCEA"/>
                      </a:solidFill>
                      <a:prstDash val="solid"/>
                    </a:lnR>
                    <a:lnT w="9525">
                      <a:solidFill>
                        <a:srgbClr val="D4DCEA"/>
                      </a:solidFill>
                      <a:prstDash val="solid"/>
                    </a:lnT>
                    <a:lnB w="9525">
                      <a:solidFill>
                        <a:srgbClr val="D4DC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Problem</a:t>
            </a:r>
            <a:r>
              <a:rPr dirty="0" spc="-155"/>
              <a:t> </a:t>
            </a:r>
            <a:r>
              <a:rPr dirty="0" spc="-10"/>
              <a:t>Definition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1136650"/>
            <a:ext cx="4036060" cy="1475740"/>
            <a:chOff x="450850" y="1136650"/>
            <a:chExt cx="4036060" cy="1475740"/>
          </a:xfrm>
        </p:grpSpPr>
        <p:sp>
          <p:nvSpPr>
            <p:cNvPr id="4" name="object 4"/>
            <p:cNvSpPr/>
            <p:nvPr/>
          </p:nvSpPr>
          <p:spPr>
            <a:xfrm>
              <a:off x="45720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800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00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933" y="1519733"/>
              <a:ext cx="252373" cy="25237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4620" y="1225658"/>
            <a:ext cx="2811145" cy="89852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00" b="1">
                <a:solidFill>
                  <a:srgbClr val="1B2A5C"/>
                </a:solidFill>
                <a:latin typeface="Calibri"/>
                <a:cs typeface="Calibri"/>
              </a:rPr>
              <a:t>The</a:t>
            </a:r>
            <a:r>
              <a:rPr dirty="0" sz="1800" spc="-1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Challenge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Describe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real-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world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challenge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your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team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chose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to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tackle.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57090" y="1136650"/>
            <a:ext cx="4036060" cy="1475740"/>
            <a:chOff x="4657090" y="1136650"/>
            <a:chExt cx="4036060" cy="1475740"/>
          </a:xfrm>
        </p:grpSpPr>
        <p:sp>
          <p:nvSpPr>
            <p:cNvPr id="11" name="object 11"/>
            <p:cNvSpPr/>
            <p:nvPr/>
          </p:nvSpPr>
          <p:spPr>
            <a:xfrm>
              <a:off x="466344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6344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92040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92040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0173" y="1519733"/>
              <a:ext cx="252373" cy="25237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610860" y="1225658"/>
            <a:ext cx="2604135" cy="89852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00" b="1">
                <a:solidFill>
                  <a:srgbClr val="1B2A5C"/>
                </a:solidFill>
                <a:latin typeface="Calibri"/>
                <a:cs typeface="Calibri"/>
              </a:rPr>
              <a:t>Intended</a:t>
            </a:r>
            <a:r>
              <a:rPr dirty="0" sz="1800" spc="-8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B2A5C"/>
                </a:solidFill>
                <a:latin typeface="Calibri"/>
                <a:cs typeface="Calibri"/>
              </a:rPr>
              <a:t>Users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Who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benefits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from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solution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and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how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will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they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use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it?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850" y="2782570"/>
            <a:ext cx="4036060" cy="1475740"/>
            <a:chOff x="450850" y="2782570"/>
            <a:chExt cx="4036060" cy="1475740"/>
          </a:xfrm>
        </p:grpSpPr>
        <p:sp>
          <p:nvSpPr>
            <p:cNvPr id="18" name="object 18"/>
            <p:cNvSpPr/>
            <p:nvPr/>
          </p:nvSpPr>
          <p:spPr>
            <a:xfrm>
              <a:off x="45720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5720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5800" y="3017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5800" y="3017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933" y="3165653"/>
              <a:ext cx="252373" cy="25237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404620" y="2871578"/>
            <a:ext cx="2186305" cy="89852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Operational</a:t>
            </a:r>
            <a:r>
              <a:rPr dirty="0" sz="1800" spc="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Context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Where,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when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under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what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conditions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will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it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be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applied?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57090" y="2782570"/>
            <a:ext cx="4036060" cy="1475740"/>
            <a:chOff x="4657090" y="2782570"/>
            <a:chExt cx="4036060" cy="1475740"/>
          </a:xfrm>
        </p:grpSpPr>
        <p:sp>
          <p:nvSpPr>
            <p:cNvPr id="25" name="object 25"/>
            <p:cNvSpPr/>
            <p:nvPr/>
          </p:nvSpPr>
          <p:spPr>
            <a:xfrm>
              <a:off x="466344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66344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92040" y="3017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92040" y="301752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0173" y="3165653"/>
              <a:ext cx="252373" cy="25237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610860" y="2871578"/>
            <a:ext cx="2673350" cy="89852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00" b="1">
                <a:solidFill>
                  <a:srgbClr val="1B2A5C"/>
                </a:solidFill>
                <a:latin typeface="Calibri"/>
                <a:cs typeface="Calibri"/>
              </a:rPr>
              <a:t>Specific</a:t>
            </a:r>
            <a:r>
              <a:rPr dirty="0" sz="1800" spc="-4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State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exact,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measurable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problem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your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model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will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solve.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Mathematical</a:t>
            </a:r>
            <a:r>
              <a:rPr dirty="0" spc="-155"/>
              <a:t> </a:t>
            </a:r>
            <a:r>
              <a:rPr dirty="0" spc="-10"/>
              <a:t>Formulation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1136650"/>
            <a:ext cx="3944620" cy="3213100"/>
            <a:chOff x="450850" y="1136650"/>
            <a:chExt cx="3944620" cy="3213100"/>
          </a:xfrm>
        </p:grpSpPr>
        <p:sp>
          <p:nvSpPr>
            <p:cNvPr id="4" name="object 4"/>
            <p:cNvSpPr/>
            <p:nvPr/>
          </p:nvSpPr>
          <p:spPr>
            <a:xfrm>
              <a:off x="457200" y="1143000"/>
              <a:ext cx="3931920" cy="3200400"/>
            </a:xfrm>
            <a:custGeom>
              <a:avLst/>
              <a:gdLst/>
              <a:ahLst/>
              <a:cxnLst/>
              <a:rect l="l" t="t" r="r" b="b"/>
              <a:pathLst>
                <a:path w="3931920" h="3200400">
                  <a:moveTo>
                    <a:pt x="3840484" y="3200399"/>
                  </a:moveTo>
                  <a:lnTo>
                    <a:pt x="91435" y="3200399"/>
                  </a:lnTo>
                  <a:lnTo>
                    <a:pt x="55844" y="3193214"/>
                  </a:lnTo>
                  <a:lnTo>
                    <a:pt x="26780" y="3173619"/>
                  </a:lnTo>
                  <a:lnTo>
                    <a:pt x="7185" y="3144555"/>
                  </a:lnTo>
                  <a:lnTo>
                    <a:pt x="0" y="3108964"/>
                  </a:lnTo>
                  <a:lnTo>
                    <a:pt x="0" y="91435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5" y="0"/>
                  </a:lnTo>
                  <a:lnTo>
                    <a:pt x="3840484" y="0"/>
                  </a:lnTo>
                  <a:lnTo>
                    <a:pt x="3891212" y="15362"/>
                  </a:lnTo>
                  <a:lnTo>
                    <a:pt x="3924959" y="56444"/>
                  </a:lnTo>
                  <a:lnTo>
                    <a:pt x="3931919" y="91435"/>
                  </a:lnTo>
                  <a:lnTo>
                    <a:pt x="3931919" y="3108964"/>
                  </a:lnTo>
                  <a:lnTo>
                    <a:pt x="3924734" y="3144555"/>
                  </a:lnTo>
                  <a:lnTo>
                    <a:pt x="3905139" y="3173619"/>
                  </a:lnTo>
                  <a:lnTo>
                    <a:pt x="3876075" y="3193214"/>
                  </a:lnTo>
                  <a:lnTo>
                    <a:pt x="3840484" y="320039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143000"/>
              <a:ext cx="3931920" cy="3200400"/>
            </a:xfrm>
            <a:custGeom>
              <a:avLst/>
              <a:gdLst/>
              <a:ahLst/>
              <a:cxnLst/>
              <a:rect l="l" t="t" r="r" b="b"/>
              <a:pathLst>
                <a:path w="3931920" h="3200400">
                  <a:moveTo>
                    <a:pt x="0" y="91435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5" y="0"/>
                  </a:lnTo>
                  <a:lnTo>
                    <a:pt x="3840484" y="0"/>
                  </a:lnTo>
                  <a:lnTo>
                    <a:pt x="3891212" y="15362"/>
                  </a:lnTo>
                  <a:lnTo>
                    <a:pt x="3924959" y="56444"/>
                  </a:lnTo>
                  <a:lnTo>
                    <a:pt x="3931919" y="91435"/>
                  </a:lnTo>
                  <a:lnTo>
                    <a:pt x="3931919" y="3108964"/>
                  </a:lnTo>
                  <a:lnTo>
                    <a:pt x="3924734" y="3144555"/>
                  </a:lnTo>
                  <a:lnTo>
                    <a:pt x="3905139" y="3173619"/>
                  </a:lnTo>
                  <a:lnTo>
                    <a:pt x="3876075" y="3193214"/>
                  </a:lnTo>
                  <a:lnTo>
                    <a:pt x="3840484" y="3200399"/>
                  </a:lnTo>
                  <a:lnTo>
                    <a:pt x="91435" y="3200399"/>
                  </a:lnTo>
                  <a:lnTo>
                    <a:pt x="55844" y="3193214"/>
                  </a:lnTo>
                  <a:lnTo>
                    <a:pt x="26780" y="3173619"/>
                  </a:lnTo>
                  <a:lnTo>
                    <a:pt x="7185" y="3144555"/>
                  </a:lnTo>
                  <a:lnTo>
                    <a:pt x="0" y="3108964"/>
                  </a:lnTo>
                  <a:lnTo>
                    <a:pt x="0" y="91435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18820" y="1352803"/>
            <a:ext cx="1402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E7A317"/>
                </a:solidFill>
                <a:latin typeface="Calibri"/>
                <a:cs typeface="Calibri"/>
              </a:rPr>
              <a:t>OBJECTIVE</a:t>
            </a:r>
            <a:r>
              <a:rPr dirty="0" sz="1200" spc="-20" b="1">
                <a:solidFill>
                  <a:srgbClr val="E7A31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E7A317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57090" y="1136650"/>
            <a:ext cx="4036060" cy="762635"/>
            <a:chOff x="4657090" y="1136650"/>
            <a:chExt cx="4036060" cy="762635"/>
          </a:xfrm>
        </p:grpSpPr>
        <p:sp>
          <p:nvSpPr>
            <p:cNvPr id="9" name="object 9"/>
            <p:cNvSpPr/>
            <p:nvPr/>
          </p:nvSpPr>
          <p:spPr>
            <a:xfrm>
              <a:off x="4663440" y="1143000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663440" y="1143000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46320" y="133502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46320" y="133502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971467" y="1391411"/>
            <a:ext cx="115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2260" y="1156716"/>
            <a:ext cx="2827655" cy="58928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Variables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Decision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state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variables,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with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units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8820" y="1681988"/>
            <a:ext cx="2751455" cy="23482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 i="1">
                <a:solidFill>
                  <a:srgbClr val="FFFFFF"/>
                </a:solidFill>
                <a:latin typeface="Cambria"/>
                <a:cs typeface="Cambria"/>
              </a:rPr>
              <a:t>min</a:t>
            </a:r>
            <a:r>
              <a:rPr dirty="0" sz="2400" spc="509" i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20" i="1">
                <a:solidFill>
                  <a:srgbClr val="FFFFFF"/>
                </a:solidFill>
                <a:latin typeface="Cambria"/>
                <a:cs typeface="Cambria"/>
              </a:rPr>
              <a:t>f(x)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i="1">
                <a:solidFill>
                  <a:srgbClr val="FFFFFF"/>
                </a:solidFill>
                <a:latin typeface="Cambria"/>
                <a:cs typeface="Cambria"/>
              </a:rPr>
              <a:t>s.t.</a:t>
            </a:r>
            <a:r>
              <a:rPr dirty="0" sz="2400" spc="530" i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mbria"/>
                <a:cs typeface="Cambria"/>
              </a:rPr>
              <a:t>g(x)</a:t>
            </a:r>
            <a:r>
              <a:rPr dirty="0" sz="2400" spc="10" i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≤</a:t>
            </a:r>
            <a:r>
              <a:rPr dirty="0" sz="2400" spc="-7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 i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2400">
              <a:latin typeface="Cambria"/>
              <a:cs typeface="Cambria"/>
            </a:endParaRPr>
          </a:p>
          <a:p>
            <a:pPr marL="548640" marR="1214120">
              <a:lnSpc>
                <a:spcPct val="119100"/>
              </a:lnSpc>
              <a:spcBef>
                <a:spcPts val="50"/>
              </a:spcBef>
            </a:pPr>
            <a:r>
              <a:rPr dirty="0" sz="2400" i="1">
                <a:solidFill>
                  <a:srgbClr val="FFFFFF"/>
                </a:solidFill>
                <a:latin typeface="Cambria"/>
                <a:cs typeface="Cambria"/>
              </a:rPr>
              <a:t>h(x)</a:t>
            </a:r>
            <a:r>
              <a:rPr dirty="0" sz="2400" spc="-15" i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2400" spc="-10" i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50" i="1">
                <a:solidFill>
                  <a:srgbClr val="FFFFFF"/>
                </a:solidFill>
                <a:latin typeface="Cambria"/>
                <a:cs typeface="Cambria"/>
              </a:rPr>
              <a:t>0 </a:t>
            </a:r>
            <a:r>
              <a:rPr dirty="0" sz="2400" i="1">
                <a:solidFill>
                  <a:srgbClr val="FFFFFF"/>
                </a:solidFill>
                <a:latin typeface="Cambria"/>
                <a:cs typeface="Cambria"/>
              </a:rPr>
              <a:t>x </a:t>
            </a:r>
            <a:r>
              <a:rPr dirty="0" sz="2450" spc="-80">
                <a:solidFill>
                  <a:srgbClr val="FFFFFF"/>
                </a:solidFill>
                <a:latin typeface="SimSun-ExtB"/>
                <a:cs typeface="SimSun-ExtB"/>
              </a:rPr>
              <a:t>∈</a:t>
            </a:r>
            <a:r>
              <a:rPr dirty="0" sz="2450" spc="-6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2400" spc="-50" i="1">
                <a:solidFill>
                  <a:srgbClr val="FFFFFF"/>
                </a:solidFill>
                <a:latin typeface="Cambria"/>
                <a:cs typeface="Cambria"/>
              </a:rPr>
              <a:t>X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1475"/>
              </a:spcBef>
            </a:pPr>
            <a:r>
              <a:rPr dirty="0" sz="1200" spc="-10">
                <a:solidFill>
                  <a:srgbClr val="EEF1F9"/>
                </a:solidFill>
                <a:latin typeface="Calibri"/>
                <a:cs typeface="Calibri"/>
              </a:rPr>
              <a:t>Replace</a:t>
            </a:r>
            <a:r>
              <a:rPr dirty="0" sz="1200" spc="-3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EF1F9"/>
                </a:solidFill>
                <a:latin typeface="Calibri"/>
                <a:cs typeface="Calibri"/>
              </a:rPr>
              <a:t>with</a:t>
            </a:r>
            <a:r>
              <a:rPr dirty="0" sz="1200" spc="-2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EF1F9"/>
                </a:solidFill>
                <a:latin typeface="Calibri"/>
                <a:cs typeface="Calibri"/>
              </a:rPr>
              <a:t>your</a:t>
            </a:r>
            <a:r>
              <a:rPr dirty="0" sz="1200" spc="-3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EF1F9"/>
                </a:solidFill>
                <a:latin typeface="Calibri"/>
                <a:cs typeface="Calibri"/>
              </a:rPr>
              <a:t>team's</a:t>
            </a:r>
            <a:r>
              <a:rPr dirty="0" sz="1200" spc="-2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EF1F9"/>
                </a:solidFill>
                <a:latin typeface="Calibri"/>
                <a:cs typeface="Calibri"/>
              </a:rPr>
              <a:t>own</a:t>
            </a:r>
            <a:r>
              <a:rPr dirty="0" sz="1200" spc="-2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EF1F9"/>
                </a:solidFill>
                <a:latin typeface="Calibri"/>
                <a:cs typeface="Calibri"/>
              </a:rPr>
              <a:t>objective</a:t>
            </a:r>
            <a:r>
              <a:rPr dirty="0" sz="1200" spc="-3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EEF1F9"/>
                </a:solidFill>
                <a:latin typeface="Calibri"/>
                <a:cs typeface="Calibri"/>
              </a:rPr>
              <a:t>and </a:t>
            </a:r>
            <a:r>
              <a:rPr dirty="0" sz="1200" spc="-10">
                <a:solidFill>
                  <a:srgbClr val="EEF1F9"/>
                </a:solidFill>
                <a:latin typeface="Calibri"/>
                <a:cs typeface="Calibri"/>
              </a:rPr>
              <a:t>constraints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57090" y="1950466"/>
            <a:ext cx="4036060" cy="762635"/>
            <a:chOff x="4657090" y="1950466"/>
            <a:chExt cx="4036060" cy="762635"/>
          </a:xfrm>
        </p:grpSpPr>
        <p:sp>
          <p:nvSpPr>
            <p:cNvPr id="16" name="object 16"/>
            <p:cNvSpPr/>
            <p:nvPr/>
          </p:nvSpPr>
          <p:spPr>
            <a:xfrm>
              <a:off x="4663440" y="1956816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63440" y="1956816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46320" y="21488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46320" y="21488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971467" y="2205227"/>
            <a:ext cx="115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2260" y="1970531"/>
            <a:ext cx="2893060" cy="58928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Inputs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Parameters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data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fed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into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model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57090" y="2764282"/>
            <a:ext cx="4036060" cy="762635"/>
            <a:chOff x="4657090" y="2764282"/>
            <a:chExt cx="4036060" cy="762635"/>
          </a:xfrm>
        </p:grpSpPr>
        <p:sp>
          <p:nvSpPr>
            <p:cNvPr id="23" name="object 23"/>
            <p:cNvSpPr/>
            <p:nvPr/>
          </p:nvSpPr>
          <p:spPr>
            <a:xfrm>
              <a:off x="4663440" y="2770632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663440" y="2770632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846320" y="296265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846320" y="296265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971467" y="3019044"/>
            <a:ext cx="115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82260" y="2784347"/>
            <a:ext cx="2724150" cy="58928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Constraints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Limits,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rules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feasibility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conditions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57090" y="3578097"/>
            <a:ext cx="4036060" cy="762635"/>
            <a:chOff x="4657090" y="3578097"/>
            <a:chExt cx="4036060" cy="762635"/>
          </a:xfrm>
        </p:grpSpPr>
        <p:sp>
          <p:nvSpPr>
            <p:cNvPr id="30" name="object 30"/>
            <p:cNvSpPr/>
            <p:nvPr/>
          </p:nvSpPr>
          <p:spPr>
            <a:xfrm>
              <a:off x="4663440" y="3584447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663440" y="3584447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846320" y="3776471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6"/>
                  </a:lnTo>
                  <a:lnTo>
                    <a:pt x="335033" y="81417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846320" y="3776471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6"/>
                  </a:lnTo>
                  <a:lnTo>
                    <a:pt x="335033" y="81417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971467" y="3832860"/>
            <a:ext cx="115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82260" y="3598164"/>
            <a:ext cx="2604135" cy="58928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Assumptions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Simplifications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where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they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hold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25"/>
              <a:t> </a:t>
            </a:r>
            <a:r>
              <a:rPr dirty="0" spc="-1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1136650"/>
            <a:ext cx="2664460" cy="2938780"/>
            <a:chOff x="450850" y="1136650"/>
            <a:chExt cx="2664460" cy="2938780"/>
          </a:xfrm>
        </p:grpSpPr>
        <p:sp>
          <p:nvSpPr>
            <p:cNvPr id="4" name="object 4"/>
            <p:cNvSpPr/>
            <p:nvPr/>
          </p:nvSpPr>
          <p:spPr>
            <a:xfrm>
              <a:off x="45720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>
                  <a:moveTo>
                    <a:pt x="2560327" y="2926079"/>
                  </a:moveTo>
                  <a:lnTo>
                    <a:pt x="91432" y="2926079"/>
                  </a:lnTo>
                  <a:lnTo>
                    <a:pt x="55842" y="2918894"/>
                  </a:lnTo>
                  <a:lnTo>
                    <a:pt x="26780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lnTo>
                    <a:pt x="7185" y="55843"/>
                  </a:lnTo>
                  <a:lnTo>
                    <a:pt x="26780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>
                  <a:moveTo>
                    <a:pt x="0" y="91432"/>
                  </a:moveTo>
                  <a:lnTo>
                    <a:pt x="7185" y="55843"/>
                  </a:lnTo>
                  <a:lnTo>
                    <a:pt x="26780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lnTo>
                    <a:pt x="91432" y="2926079"/>
                  </a:lnTo>
                  <a:lnTo>
                    <a:pt x="55842" y="2918894"/>
                  </a:lnTo>
                  <a:lnTo>
                    <a:pt x="26780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152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2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0" y="365759"/>
                  </a:move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030" y="1614830"/>
              <a:ext cx="336498" cy="3364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18820" y="2309876"/>
            <a:ext cx="216979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B2A5C"/>
                </a:solidFill>
                <a:latin typeface="Calibri"/>
                <a:cs typeface="Calibri"/>
              </a:rPr>
              <a:t>Algorithm</a:t>
            </a:r>
            <a:r>
              <a:rPr dirty="0" sz="1800" spc="-4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B2A5C"/>
                </a:solidFill>
                <a:latin typeface="Calibri"/>
                <a:cs typeface="Calibri"/>
              </a:rPr>
              <a:t>/</a:t>
            </a:r>
            <a:r>
              <a:rPr dirty="0" sz="1800" spc="-3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95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Name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algorithm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or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model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outline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how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it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works.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39770" y="1136650"/>
            <a:ext cx="2664460" cy="2938780"/>
            <a:chOff x="3239770" y="1136650"/>
            <a:chExt cx="2664460" cy="2938780"/>
          </a:xfrm>
        </p:grpSpPr>
        <p:sp>
          <p:nvSpPr>
            <p:cNvPr id="11" name="object 11"/>
            <p:cNvSpPr/>
            <p:nvPr/>
          </p:nvSpPr>
          <p:spPr>
            <a:xfrm>
              <a:off x="324612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>
                  <a:moveTo>
                    <a:pt x="2560327" y="2926079"/>
                  </a:move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4612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>
                  <a:moveTo>
                    <a:pt x="0" y="91432"/>
                  </a:move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2044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2044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59"/>
                  </a:move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7950" y="1614830"/>
              <a:ext cx="336498" cy="33649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507740" y="2309876"/>
            <a:ext cx="2031364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Justification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95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Explain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why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it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fits: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accuracy,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speed,</a:t>
            </a:r>
            <a:r>
              <a:rPr dirty="0" sz="1400" spc="-7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interpretability.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28690" y="1136650"/>
            <a:ext cx="2664460" cy="2938780"/>
            <a:chOff x="6028690" y="1136650"/>
            <a:chExt cx="2664460" cy="2938780"/>
          </a:xfrm>
        </p:grpSpPr>
        <p:sp>
          <p:nvSpPr>
            <p:cNvPr id="18" name="object 18"/>
            <p:cNvSpPr/>
            <p:nvPr/>
          </p:nvSpPr>
          <p:spPr>
            <a:xfrm>
              <a:off x="603504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59" h="2926079">
                  <a:moveTo>
                    <a:pt x="2560327" y="2926079"/>
                  </a:move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3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3504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59" h="2926079">
                  <a:moveTo>
                    <a:pt x="0" y="91432"/>
                  </a:move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3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0936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0936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59"/>
                  </a:move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6870" y="1614830"/>
              <a:ext cx="336498" cy="33649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296660" y="2309876"/>
            <a:ext cx="2012314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B2A5C"/>
                </a:solidFill>
                <a:latin typeface="Calibri"/>
                <a:cs typeface="Calibri"/>
              </a:rPr>
              <a:t>Baseline</a:t>
            </a:r>
            <a:r>
              <a:rPr dirty="0" sz="1800" spc="-4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B2A5C"/>
                </a:solidFill>
                <a:latin typeface="Calibri"/>
                <a:cs typeface="Calibri"/>
              </a:rPr>
              <a:t>Comparison</a:t>
            </a:r>
            <a:endParaRPr sz="1800">
              <a:latin typeface="Calibri"/>
              <a:cs typeface="Calibri"/>
            </a:endParaRPr>
          </a:p>
          <a:p>
            <a:pPr marL="12700" marR="111125">
              <a:lnSpc>
                <a:spcPct val="100000"/>
              </a:lnSpc>
              <a:spcBef>
                <a:spcPts val="1095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Compare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against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simple baseline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show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gain.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95"/>
              <a:t> </a:t>
            </a:r>
            <a:r>
              <a:rPr dirty="0" spc="-10"/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1182369"/>
            <a:ext cx="1841500" cy="1750060"/>
            <a:chOff x="450850" y="1182369"/>
            <a:chExt cx="1841500" cy="1750060"/>
          </a:xfrm>
        </p:grpSpPr>
        <p:sp>
          <p:nvSpPr>
            <p:cNvPr id="4" name="object 4"/>
            <p:cNvSpPr/>
            <p:nvPr/>
          </p:nvSpPr>
          <p:spPr>
            <a:xfrm>
              <a:off x="45720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0079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0079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04498" y="1457452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0" y="1835984"/>
            <a:ext cx="1154430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1B2A5C"/>
                </a:solidFill>
                <a:latin typeface="Calibri"/>
                <a:cs typeface="Calibri"/>
              </a:rPr>
              <a:t>Data</a:t>
            </a:r>
            <a:r>
              <a:rPr dirty="0" sz="1600" spc="-7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Sources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Where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data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comes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from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16226" y="1182369"/>
            <a:ext cx="2109470" cy="1750060"/>
            <a:chOff x="2316226" y="1182369"/>
            <a:chExt cx="2109470" cy="1750060"/>
          </a:xfrm>
        </p:grpSpPr>
        <p:sp>
          <p:nvSpPr>
            <p:cNvPr id="11" name="object 11"/>
            <p:cNvSpPr/>
            <p:nvPr/>
          </p:nvSpPr>
          <p:spPr>
            <a:xfrm>
              <a:off x="2322576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22576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9049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9049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7337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7337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937792" y="1457452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60675" y="1835984"/>
            <a:ext cx="1529715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Preprocessing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Cleaning,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scaling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encoding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49521" y="1182369"/>
            <a:ext cx="2109470" cy="1750060"/>
            <a:chOff x="4449521" y="1182369"/>
            <a:chExt cx="2109470" cy="1750060"/>
          </a:xfrm>
        </p:grpSpPr>
        <p:sp>
          <p:nvSpPr>
            <p:cNvPr id="20" name="object 20"/>
            <p:cNvSpPr/>
            <p:nvPr/>
          </p:nvSpPr>
          <p:spPr>
            <a:xfrm>
              <a:off x="4455871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55871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2379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2379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06670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906670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071088" y="1457452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93970" y="1835984"/>
            <a:ext cx="1111250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1B2A5C"/>
                </a:solidFill>
                <a:latin typeface="Calibri"/>
                <a:cs typeface="Calibri"/>
              </a:rPr>
              <a:t>Missing</a:t>
            </a:r>
            <a:r>
              <a:rPr dirty="0" sz="1600" spc="-3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B2A5C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  <a:p>
            <a:pPr marL="12700" marR="31115">
              <a:lnSpc>
                <a:spcPct val="100000"/>
              </a:lnSpc>
              <a:spcBef>
                <a:spcPts val="75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Imputation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or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exclusion</a:t>
            </a:r>
            <a:r>
              <a:rPr dirty="0" sz="1400" spc="-6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rules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82815" y="1182369"/>
            <a:ext cx="2109470" cy="1750060"/>
            <a:chOff x="6582815" y="1182369"/>
            <a:chExt cx="2109470" cy="1750060"/>
          </a:xfrm>
        </p:grpSpPr>
        <p:sp>
          <p:nvSpPr>
            <p:cNvPr id="29" name="object 29"/>
            <p:cNvSpPr/>
            <p:nvPr/>
          </p:nvSpPr>
          <p:spPr>
            <a:xfrm>
              <a:off x="6589165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89165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85708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6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6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85708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6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6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3996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6" y="4433"/>
                  </a:lnTo>
                  <a:lnTo>
                    <a:pt x="316081" y="17401"/>
                  </a:lnTo>
                  <a:lnTo>
                    <a:pt x="355428" y="38407"/>
                  </a:lnTo>
                  <a:lnTo>
                    <a:pt x="390245" y="66955"/>
                  </a:lnTo>
                  <a:lnTo>
                    <a:pt x="418793" y="101772"/>
                  </a:lnTo>
                  <a:lnTo>
                    <a:pt x="439799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03996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6" y="4433"/>
                  </a:lnTo>
                  <a:lnTo>
                    <a:pt x="316081" y="17401"/>
                  </a:lnTo>
                  <a:lnTo>
                    <a:pt x="355428" y="38407"/>
                  </a:lnTo>
                  <a:lnTo>
                    <a:pt x="390245" y="66955"/>
                  </a:lnTo>
                  <a:lnTo>
                    <a:pt x="418793" y="101772"/>
                  </a:lnTo>
                  <a:lnTo>
                    <a:pt x="439799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204384" y="1457452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27266" y="1835984"/>
            <a:ext cx="1483995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Dataset</a:t>
            </a:r>
            <a:r>
              <a:rPr dirty="0" sz="1600" spc="-2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Split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Train,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validation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test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sets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4500" y="3225292"/>
            <a:ext cx="18211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B2A5C"/>
                </a:solidFill>
                <a:latin typeface="Calibri"/>
                <a:cs typeface="Calibri"/>
              </a:rPr>
              <a:t>Example</a:t>
            </a:r>
            <a:r>
              <a:rPr dirty="0" sz="1600" spc="-4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dataset</a:t>
            </a:r>
            <a:r>
              <a:rPr dirty="0" sz="1600" spc="-4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split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7200" y="3657600"/>
            <a:ext cx="5760720" cy="548640"/>
          </a:xfrm>
          <a:prstGeom prst="rect">
            <a:avLst/>
          </a:prstGeom>
          <a:solidFill>
            <a:srgbClr val="1B2A5C"/>
          </a:solidFill>
        </p:spPr>
        <p:txBody>
          <a:bodyPr wrap="square" lIns="0" tIns="168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r>
              <a:rPr dirty="0" sz="13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70%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08395" y="3648075"/>
            <a:ext cx="1253490" cy="567690"/>
            <a:chOff x="6208395" y="3648075"/>
            <a:chExt cx="1253490" cy="567690"/>
          </a:xfrm>
        </p:grpSpPr>
        <p:sp>
          <p:nvSpPr>
            <p:cNvPr id="40" name="object 40"/>
            <p:cNvSpPr/>
            <p:nvPr/>
          </p:nvSpPr>
          <p:spPr>
            <a:xfrm>
              <a:off x="6217920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>
                  <a:moveTo>
                    <a:pt x="1234439" y="548639"/>
                  </a:moveTo>
                  <a:lnTo>
                    <a:pt x="0" y="548639"/>
                  </a:lnTo>
                  <a:lnTo>
                    <a:pt x="0" y="0"/>
                  </a:lnTo>
                  <a:lnTo>
                    <a:pt x="1234439" y="0"/>
                  </a:lnTo>
                  <a:lnTo>
                    <a:pt x="1234439" y="54863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217920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>
                  <a:moveTo>
                    <a:pt x="0" y="0"/>
                  </a:moveTo>
                  <a:lnTo>
                    <a:pt x="1234439" y="0"/>
                  </a:lnTo>
                  <a:lnTo>
                    <a:pt x="1234439" y="548639"/>
                  </a:lnTo>
                  <a:lnTo>
                    <a:pt x="0" y="54863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567417" y="3813555"/>
            <a:ext cx="5486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Val</a:t>
            </a:r>
            <a:r>
              <a:rPr dirty="0" sz="13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15%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442834" y="3648075"/>
            <a:ext cx="1253490" cy="567690"/>
            <a:chOff x="7442834" y="3648075"/>
            <a:chExt cx="1253490" cy="567690"/>
          </a:xfrm>
        </p:grpSpPr>
        <p:sp>
          <p:nvSpPr>
            <p:cNvPr id="44" name="object 44"/>
            <p:cNvSpPr/>
            <p:nvPr/>
          </p:nvSpPr>
          <p:spPr>
            <a:xfrm>
              <a:off x="7452359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>
                  <a:moveTo>
                    <a:pt x="1234439" y="548639"/>
                  </a:moveTo>
                  <a:lnTo>
                    <a:pt x="0" y="548639"/>
                  </a:lnTo>
                  <a:lnTo>
                    <a:pt x="0" y="0"/>
                  </a:lnTo>
                  <a:lnTo>
                    <a:pt x="1234439" y="0"/>
                  </a:lnTo>
                  <a:lnTo>
                    <a:pt x="1234439" y="54863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452359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>
                  <a:moveTo>
                    <a:pt x="0" y="0"/>
                  </a:moveTo>
                  <a:lnTo>
                    <a:pt x="1234439" y="0"/>
                  </a:lnTo>
                  <a:lnTo>
                    <a:pt x="1234439" y="548639"/>
                  </a:lnTo>
                  <a:lnTo>
                    <a:pt x="0" y="54863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7771234" y="3813555"/>
            <a:ext cx="6096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3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15%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Validation</a:t>
            </a:r>
            <a:r>
              <a:rPr dirty="0" spc="-135"/>
              <a:t> </a:t>
            </a:r>
            <a:r>
              <a:rPr dirty="0" spc="-20"/>
              <a:t>Plan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1136650"/>
            <a:ext cx="8242300" cy="744220"/>
            <a:chOff x="450850" y="1136650"/>
            <a:chExt cx="8242300" cy="744220"/>
          </a:xfrm>
        </p:grpSpPr>
        <p:sp>
          <p:nvSpPr>
            <p:cNvPr id="4" name="object 4"/>
            <p:cNvSpPr/>
            <p:nvPr/>
          </p:nvSpPr>
          <p:spPr>
            <a:xfrm>
              <a:off x="457200" y="1143000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143000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0079" y="126187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887" y="493775"/>
                  </a:move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0079" y="126187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400" y="1395192"/>
              <a:ext cx="227136" cy="2271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58900" y="1366011"/>
            <a:ext cx="15906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Evaluation</a:t>
            </a:r>
            <a:r>
              <a:rPr dirty="0" sz="1600" spc="-3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Metrics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7780" y="1382267"/>
            <a:ext cx="46424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Accuracy,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error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measures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or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custom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scores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tied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objective.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0850" y="1968754"/>
            <a:ext cx="8242300" cy="744220"/>
            <a:chOff x="450850" y="1968754"/>
            <a:chExt cx="8242300" cy="744220"/>
          </a:xfrm>
        </p:grpSpPr>
        <p:sp>
          <p:nvSpPr>
            <p:cNvPr id="12" name="object 12"/>
            <p:cNvSpPr/>
            <p:nvPr/>
          </p:nvSpPr>
          <p:spPr>
            <a:xfrm>
              <a:off x="457200" y="1975104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7200" y="1975104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0079" y="209397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887" y="493775"/>
                  </a:move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40079" y="209397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00" y="2227296"/>
              <a:ext cx="227136" cy="22713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58900" y="2198116"/>
            <a:ext cx="10579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Benchmarks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7780" y="2214372"/>
            <a:ext cx="42462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Standard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datasets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or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published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results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compare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against.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0850" y="2800857"/>
            <a:ext cx="8242300" cy="744220"/>
            <a:chOff x="450850" y="2800857"/>
            <a:chExt cx="8242300" cy="744220"/>
          </a:xfrm>
        </p:grpSpPr>
        <p:sp>
          <p:nvSpPr>
            <p:cNvPr id="20" name="object 20"/>
            <p:cNvSpPr/>
            <p:nvPr/>
          </p:nvSpPr>
          <p:spPr>
            <a:xfrm>
              <a:off x="457200" y="2807207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8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8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7200" y="2807207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8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40079" y="292607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493775"/>
                  </a:moveTo>
                  <a:lnTo>
                    <a:pt x="197131" y="488759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3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3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59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0079" y="292607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3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59"/>
                  </a:lnTo>
                  <a:lnTo>
                    <a:pt x="246887" y="493775"/>
                  </a:lnTo>
                  <a:lnTo>
                    <a:pt x="197131" y="488759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3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400" y="3059400"/>
              <a:ext cx="227136" cy="22713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358900" y="3030220"/>
            <a:ext cx="11112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Failure</a:t>
            </a:r>
            <a:r>
              <a:rPr dirty="0" sz="1600" spc="-3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Cases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27780" y="3046476"/>
            <a:ext cx="38855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Edge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cases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inputs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where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model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breaks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down.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0850" y="3632961"/>
            <a:ext cx="8242300" cy="744220"/>
            <a:chOff x="450850" y="3632961"/>
            <a:chExt cx="8242300" cy="744220"/>
          </a:xfrm>
        </p:grpSpPr>
        <p:sp>
          <p:nvSpPr>
            <p:cNvPr id="28" name="object 28"/>
            <p:cNvSpPr/>
            <p:nvPr/>
          </p:nvSpPr>
          <p:spPr>
            <a:xfrm>
              <a:off x="457200" y="3639311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7200" y="3639311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0079" y="375818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493775"/>
                  </a:move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0079" y="375818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400" y="3891504"/>
              <a:ext cx="227136" cy="22713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58900" y="3862323"/>
            <a:ext cx="1304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Reproducibility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27780" y="3878580"/>
            <a:ext cx="3543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Fixed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seeds,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documented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steps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shared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code.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Prototype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 spc="-20"/>
              <a:t>Demo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76452"/>
            <a:ext cx="8547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Workflow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0850" y="1456689"/>
            <a:ext cx="1841500" cy="1018540"/>
            <a:chOff x="450850" y="1456689"/>
            <a:chExt cx="1841500" cy="1018540"/>
          </a:xfrm>
        </p:grpSpPr>
        <p:sp>
          <p:nvSpPr>
            <p:cNvPr id="5" name="object 5"/>
            <p:cNvSpPr/>
            <p:nvPr/>
          </p:nvSpPr>
          <p:spPr>
            <a:xfrm>
              <a:off x="45720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1737359" y="1005839"/>
                  </a:move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98748" y="1731772"/>
            <a:ext cx="1144905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Sample</a:t>
            </a:r>
            <a:r>
              <a:rPr dirty="0" sz="16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16226" y="1456689"/>
            <a:ext cx="2109470" cy="1018540"/>
            <a:chOff x="2316226" y="1456689"/>
            <a:chExt cx="2109470" cy="1018540"/>
          </a:xfrm>
        </p:grpSpPr>
        <p:sp>
          <p:nvSpPr>
            <p:cNvPr id="9" name="object 9"/>
            <p:cNvSpPr/>
            <p:nvPr/>
          </p:nvSpPr>
          <p:spPr>
            <a:xfrm>
              <a:off x="2322576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22576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9049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1737358" y="1005839"/>
                  </a:moveTo>
                  <a:lnTo>
                    <a:pt x="91440" y="1005839"/>
                  </a:lnTo>
                  <a:lnTo>
                    <a:pt x="55848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1" y="998654"/>
                  </a:lnTo>
                  <a:lnTo>
                    <a:pt x="1737358" y="100583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9049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1" y="998654"/>
                  </a:lnTo>
                  <a:lnTo>
                    <a:pt x="1737358" y="1005839"/>
                  </a:lnTo>
                  <a:lnTo>
                    <a:pt x="91440" y="1005839"/>
                  </a:lnTo>
                  <a:lnTo>
                    <a:pt x="55848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030679" y="1731772"/>
            <a:ext cx="947419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49521" y="1456689"/>
            <a:ext cx="2109470" cy="1018540"/>
            <a:chOff x="4449521" y="1456689"/>
            <a:chExt cx="2109470" cy="1018540"/>
          </a:xfrm>
        </p:grpSpPr>
        <p:sp>
          <p:nvSpPr>
            <p:cNvPr id="15" name="object 15"/>
            <p:cNvSpPr/>
            <p:nvPr/>
          </p:nvSpPr>
          <p:spPr>
            <a:xfrm>
              <a:off x="4455871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55871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2379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1737359" y="1005839"/>
                  </a:move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2379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957400" y="1731772"/>
            <a:ext cx="1361440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predictions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82815" y="1456689"/>
            <a:ext cx="2109470" cy="1018540"/>
            <a:chOff x="6582815" y="1456689"/>
            <a:chExt cx="2109470" cy="1018540"/>
          </a:xfrm>
        </p:grpSpPr>
        <p:sp>
          <p:nvSpPr>
            <p:cNvPr id="21" name="object 21"/>
            <p:cNvSpPr/>
            <p:nvPr/>
          </p:nvSpPr>
          <p:spPr>
            <a:xfrm>
              <a:off x="6589165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589165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5708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1737358" y="1005839"/>
                  </a:move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8" y="100583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5708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8" y="1005839"/>
                  </a:ln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096947" y="1731772"/>
            <a:ext cx="1348105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Plots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dashboards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4500" y="2722372"/>
            <a:ext cx="2193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Implementation</a:t>
            </a:r>
            <a:r>
              <a:rPr dirty="0" sz="1600" spc="25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roadmap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0850" y="3102610"/>
            <a:ext cx="2664460" cy="1247140"/>
            <a:chOff x="450850" y="3102610"/>
            <a:chExt cx="2664460" cy="1247140"/>
          </a:xfrm>
        </p:grpSpPr>
        <p:sp>
          <p:nvSpPr>
            <p:cNvPr id="28" name="object 28"/>
            <p:cNvSpPr/>
            <p:nvPr/>
          </p:nvSpPr>
          <p:spPr>
            <a:xfrm>
              <a:off x="45720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>
                  <a:moveTo>
                    <a:pt x="2560324" y="1234439"/>
                  </a:move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720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27380" y="3116144"/>
            <a:ext cx="2263140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Phase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1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·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A82039"/>
                </a:solidFill>
                <a:latin typeface="Calibri"/>
                <a:cs typeface="Calibri"/>
              </a:rPr>
              <a:t>Build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Implement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core</a:t>
            </a:r>
            <a:r>
              <a:rPr dirty="0" sz="1400" spc="-5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model</a:t>
            </a:r>
            <a:r>
              <a:rPr dirty="0" sz="1400" spc="-5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and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basic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interface.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239770" y="3102610"/>
            <a:ext cx="2664460" cy="1247140"/>
            <a:chOff x="3239770" y="3102610"/>
            <a:chExt cx="2664460" cy="1247140"/>
          </a:xfrm>
        </p:grpSpPr>
        <p:sp>
          <p:nvSpPr>
            <p:cNvPr id="32" name="object 32"/>
            <p:cNvSpPr/>
            <p:nvPr/>
          </p:nvSpPr>
          <p:spPr>
            <a:xfrm>
              <a:off x="324612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>
                  <a:moveTo>
                    <a:pt x="2560324" y="1234439"/>
                  </a:move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800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4612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800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416300" y="3116144"/>
            <a:ext cx="2059939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Phase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2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·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A82039"/>
                </a:solidFill>
                <a:latin typeface="Calibri"/>
                <a:cs typeface="Calibri"/>
              </a:rPr>
              <a:t>Test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Run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validation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refine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on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failure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28690" y="3102610"/>
            <a:ext cx="2664460" cy="1247140"/>
            <a:chOff x="6028690" y="3102610"/>
            <a:chExt cx="2664460" cy="1247140"/>
          </a:xfrm>
        </p:grpSpPr>
        <p:sp>
          <p:nvSpPr>
            <p:cNvPr id="36" name="object 36"/>
            <p:cNvSpPr/>
            <p:nvPr/>
          </p:nvSpPr>
          <p:spPr>
            <a:xfrm>
              <a:off x="603504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59" h="1234439">
                  <a:moveTo>
                    <a:pt x="2560324" y="1234439"/>
                  </a:move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3504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59" h="1234439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205220" y="3116144"/>
            <a:ext cx="2236470" cy="9010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Phase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3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A82039"/>
                </a:solidFill>
                <a:latin typeface="Calibri"/>
                <a:cs typeface="Calibri"/>
              </a:rPr>
              <a:t>·</a:t>
            </a:r>
            <a:r>
              <a:rPr dirty="0" sz="1600" spc="-15" b="1">
                <a:solidFill>
                  <a:srgbClr val="A82039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A82039"/>
                </a:solidFill>
                <a:latin typeface="Calibri"/>
                <a:cs typeface="Calibri"/>
              </a:rPr>
              <a:t>Demo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Polish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visuals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rehearse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walkthrough.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Limitations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1136650"/>
            <a:ext cx="1932939" cy="2938780"/>
            <a:chOff x="450850" y="1136650"/>
            <a:chExt cx="1932939" cy="2938780"/>
          </a:xfrm>
        </p:grpSpPr>
        <p:sp>
          <p:nvSpPr>
            <p:cNvPr id="4" name="object 4"/>
            <p:cNvSpPr/>
            <p:nvPr/>
          </p:nvSpPr>
          <p:spPr>
            <a:xfrm>
              <a:off x="45720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>
                  <a:moveTo>
                    <a:pt x="1828798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007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007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902" y="1544422"/>
              <a:ext cx="294436" cy="2944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7380" y="2173732"/>
            <a:ext cx="14027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B2A5C"/>
                </a:solidFill>
                <a:latin typeface="Calibri"/>
                <a:cs typeface="Calibri"/>
              </a:rPr>
              <a:t>Data</a:t>
            </a:r>
            <a:r>
              <a:rPr dirty="0" sz="1600" spc="-7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Limitations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80" y="2814827"/>
            <a:ext cx="15335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Size,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bias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quality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available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53970" y="1136650"/>
            <a:ext cx="1932939" cy="2938780"/>
            <a:chOff x="2553970" y="1136650"/>
            <a:chExt cx="1932939" cy="2938780"/>
          </a:xfrm>
        </p:grpSpPr>
        <p:sp>
          <p:nvSpPr>
            <p:cNvPr id="12" name="object 12"/>
            <p:cNvSpPr/>
            <p:nvPr/>
          </p:nvSpPr>
          <p:spPr>
            <a:xfrm>
              <a:off x="256032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>
                  <a:moveTo>
                    <a:pt x="1828798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6032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4320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20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6022" y="1544422"/>
              <a:ext cx="294436" cy="29443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730500" y="2173732"/>
            <a:ext cx="12801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Computational </a:t>
            </a:r>
            <a:r>
              <a:rPr dirty="0" sz="1600" spc="-20" b="1">
                <a:solidFill>
                  <a:srgbClr val="1B2A5C"/>
                </a:solidFill>
                <a:latin typeface="Calibri"/>
                <a:cs typeface="Calibri"/>
              </a:rPr>
              <a:t>Cost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0500" y="2814827"/>
            <a:ext cx="134429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Time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memory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needs</a:t>
            </a:r>
            <a:r>
              <a:rPr dirty="0" sz="1400" spc="-4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as</a:t>
            </a:r>
            <a:r>
              <a:rPr dirty="0" sz="1400" spc="-4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the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problem</a:t>
            </a:r>
            <a:r>
              <a:rPr dirty="0" sz="1400" spc="-3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scales.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57090" y="1136650"/>
            <a:ext cx="1932939" cy="2938780"/>
            <a:chOff x="4657090" y="1136650"/>
            <a:chExt cx="1932939" cy="2938780"/>
          </a:xfrm>
        </p:grpSpPr>
        <p:sp>
          <p:nvSpPr>
            <p:cNvPr id="20" name="object 20"/>
            <p:cNvSpPr/>
            <p:nvPr/>
          </p:nvSpPr>
          <p:spPr>
            <a:xfrm>
              <a:off x="466344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>
                  <a:moveTo>
                    <a:pt x="1828798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66344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4632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84632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9142" y="1544422"/>
              <a:ext cx="294436" cy="29443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833620" y="2173732"/>
            <a:ext cx="10185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Uncertainty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33620" y="2814827"/>
            <a:ext cx="137731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Sensitivity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to</a:t>
            </a:r>
            <a:r>
              <a:rPr dirty="0" sz="1400" spc="-1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noise </a:t>
            </a:r>
            <a:r>
              <a:rPr dirty="0" sz="1400">
                <a:solidFill>
                  <a:srgbClr val="1A1F36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confidence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in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results.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760209" y="1136650"/>
            <a:ext cx="1932939" cy="2938780"/>
            <a:chOff x="6760209" y="1136650"/>
            <a:chExt cx="1932939" cy="2938780"/>
          </a:xfrm>
        </p:grpSpPr>
        <p:sp>
          <p:nvSpPr>
            <p:cNvPr id="28" name="object 28"/>
            <p:cNvSpPr/>
            <p:nvPr/>
          </p:nvSpPr>
          <p:spPr>
            <a:xfrm>
              <a:off x="6766559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>
                  <a:moveTo>
                    <a:pt x="1828797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7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766559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7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7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94943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94943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2261" y="1544422"/>
              <a:ext cx="294437" cy="29443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936740" y="2173732"/>
            <a:ext cx="14046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B2A5C"/>
                </a:solidFill>
                <a:latin typeface="Calibri"/>
                <a:cs typeface="Calibri"/>
              </a:rPr>
              <a:t>Ethical</a:t>
            </a:r>
            <a:r>
              <a:rPr dirty="0" sz="1600" spc="-60" b="1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2A5C"/>
                </a:solidFill>
                <a:latin typeface="Calibri"/>
                <a:cs typeface="Calibri"/>
              </a:rPr>
              <a:t>Concerns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36740" y="2814827"/>
            <a:ext cx="15214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Fairness,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privacy</a:t>
            </a:r>
            <a:r>
              <a:rPr dirty="0" sz="1400" spc="-30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1A1F36"/>
                </a:solidFill>
                <a:latin typeface="Calibri"/>
                <a:cs typeface="Calibri"/>
              </a:rPr>
              <a:t>responsible</a:t>
            </a:r>
            <a:r>
              <a:rPr dirty="0" sz="1400" spc="-25">
                <a:solidFill>
                  <a:srgbClr val="1A1F36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F36"/>
                </a:solidFill>
                <a:latin typeface="Calibri"/>
                <a:cs typeface="Calibri"/>
              </a:rPr>
              <a:t>use.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Alliance_One_MathX_Ideation_Demo</dc:title>
  <dcterms:created xsi:type="dcterms:W3CDTF">2026-10-30T05:04:54Z</dcterms:created>
  <dcterms:modified xsi:type="dcterms:W3CDTF">2026-10-30T05:04:54Z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2026-10-30T00:00:00Z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2026-10-30T00:00:00Z</vt:filetime>
  </property>
</Properties>
</file>